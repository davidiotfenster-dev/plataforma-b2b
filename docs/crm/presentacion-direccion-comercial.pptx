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439b3fd4208f4a03" /><Relationship Type="http://schemas.openxmlformats.org/officeDocument/2006/relationships/extended-properties" Target="/docProps/app.xml" Id="Ra0a802744b444115" /><Relationship Type="http://schemas.openxmlformats.org/officeDocument/2006/relationships/officeDocument" Target="/ppt/presentation.xml" Id="Rc70ec9657ab94a24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11778047c9874783"/>
  </p:sldMasterIdLst>
  <p:notesMasterIdLst>
    <p:notesMasterId xmlns:r="http://schemas.openxmlformats.org/officeDocument/2006/relationships" r:id="R23f171646c2f470f"/>
  </p:notesMasterIdLst>
  <p:sldIdLst>
    <p:sldId xmlns:r="http://schemas.openxmlformats.org/officeDocument/2006/relationships" id="256" r:id="R116b9239142144a1"/>
    <p:sldId xmlns:r="http://schemas.openxmlformats.org/officeDocument/2006/relationships" id="257" r:id="Rd872ec17227b47ef"/>
    <p:sldId xmlns:r="http://schemas.openxmlformats.org/officeDocument/2006/relationships" id="258" r:id="R5d5bbad1777044e3"/>
    <p:sldId xmlns:r="http://schemas.openxmlformats.org/officeDocument/2006/relationships" id="259" r:id="R32ea6b6c78f84d7e"/>
    <p:sldId xmlns:r="http://schemas.openxmlformats.org/officeDocument/2006/relationships" id="260" r:id="Ra237096802484c98"/>
    <p:sldId xmlns:r="http://schemas.openxmlformats.org/officeDocument/2006/relationships" id="261" r:id="R35dbabf877c745e8"/>
    <p:sldId xmlns:r="http://schemas.openxmlformats.org/officeDocument/2006/relationships" id="262" r:id="R487e757d98e34c31"/>
    <p:sldId xmlns:r="http://schemas.openxmlformats.org/officeDocument/2006/relationships" id="263" r:id="R6c1540b42ee349a9"/>
    <p:sldId xmlns:r="http://schemas.openxmlformats.org/officeDocument/2006/relationships" id="264" r:id="R286d1ae393414b15"/>
    <p:sldId xmlns:r="http://schemas.openxmlformats.org/officeDocument/2006/relationships" id="265" r:id="Rc463dc37a53d456f"/>
    <p:sldId xmlns:r="http://schemas.openxmlformats.org/officeDocument/2006/relationships" id="266" r:id="Rc12787741c0c4fb1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7b8ee9df98a543ee" /><Relationship Type="http://schemas.openxmlformats.org/officeDocument/2006/relationships/slideMaster" Target="/ppt/slideMasters/slideMaster1.xml" Id="R11778047c9874783" /><Relationship Type="http://schemas.openxmlformats.org/officeDocument/2006/relationships/notesMaster" Target="/ppt/notesMasters/notesMaster1.xml" Id="R23f171646c2f470f" /><Relationship Type="http://schemas.openxmlformats.org/officeDocument/2006/relationships/presProps" Target="/ppt/presProps.xml" Id="R8238f7ccbeb24f5d" /><Relationship Type="http://schemas.openxmlformats.org/officeDocument/2006/relationships/tableStyles" Target="/ppt/tableStyles.xml" Id="Rbf8027ec563241e5" /><Relationship Type="http://schemas.openxmlformats.org/officeDocument/2006/relationships/slide" Target="/ppt/slides/slide1.xml" Id="R116b9239142144a1" /><Relationship Type="http://schemas.openxmlformats.org/officeDocument/2006/relationships/slide" Target="/ppt/slides/slide2.xml" Id="Rd872ec17227b47ef" /><Relationship Type="http://schemas.openxmlformats.org/officeDocument/2006/relationships/slide" Target="/ppt/slides/slide3.xml" Id="R5d5bbad1777044e3" /><Relationship Type="http://schemas.openxmlformats.org/officeDocument/2006/relationships/slide" Target="/ppt/slides/slide4.xml" Id="R32ea6b6c78f84d7e" /><Relationship Type="http://schemas.openxmlformats.org/officeDocument/2006/relationships/slide" Target="/ppt/slides/slide5.xml" Id="Ra237096802484c98" /><Relationship Type="http://schemas.openxmlformats.org/officeDocument/2006/relationships/slide" Target="/ppt/slides/slide6.xml" Id="R35dbabf877c745e8" /><Relationship Type="http://schemas.openxmlformats.org/officeDocument/2006/relationships/slide" Target="/ppt/slides/slide7.xml" Id="R487e757d98e34c31" /><Relationship Type="http://schemas.openxmlformats.org/officeDocument/2006/relationships/slide" Target="/ppt/slides/slide8.xml" Id="R6c1540b42ee349a9" /><Relationship Type="http://schemas.openxmlformats.org/officeDocument/2006/relationships/slide" Target="/ppt/slides/slide9.xml" Id="R286d1ae393414b15" /><Relationship Type="http://schemas.openxmlformats.org/officeDocument/2006/relationships/slide" Target="/ppt/slides/slide10.xml" Id="Rc463dc37a53d456f" /><Relationship Type="http://schemas.openxmlformats.org/officeDocument/2006/relationships/slide" Target="/ppt/slides/slide11.xml" Id="Rc12787741c0c4fb1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8883fe34d30f442c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939f5dc62d89445d" /><Relationship Type="http://schemas.openxmlformats.org/officeDocument/2006/relationships/notesMaster" Target="/ppt/notesMasters/notesMaster1.xml" Id="R18652f9a89cf400d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5fecdeaabd334109" /><Relationship Type="http://schemas.openxmlformats.org/officeDocument/2006/relationships/notesMaster" Target="/ppt/notesMasters/notesMaster1.xml" Id="R92eeb8faeeac4da0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df689ab9983a4fe9" /><Relationship Type="http://schemas.openxmlformats.org/officeDocument/2006/relationships/notesMaster" Target="/ppt/notesMasters/notesMaster1.xml" Id="R676f2e0c47b24511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5a20433ec96e4fe5" /><Relationship Type="http://schemas.openxmlformats.org/officeDocument/2006/relationships/notesMaster" Target="/ppt/notesMasters/notesMaster1.xml" Id="R428063ac05874e00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a2975f5a06294e73" /><Relationship Type="http://schemas.openxmlformats.org/officeDocument/2006/relationships/notesMaster" Target="/ppt/notesMasters/notesMaster1.xml" Id="Rc76c33cec71f4648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9d291428d4984330" /><Relationship Type="http://schemas.openxmlformats.org/officeDocument/2006/relationships/notesMaster" Target="/ppt/notesMasters/notesMaster1.xml" Id="R3f163296374e4b3f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1a18c52ddfcf4069" /><Relationship Type="http://schemas.openxmlformats.org/officeDocument/2006/relationships/notesMaster" Target="/ppt/notesMasters/notesMaster1.xml" Id="R180833564b134e97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fab2460f309341c8" /><Relationship Type="http://schemas.openxmlformats.org/officeDocument/2006/relationships/notesMaster" Target="/ppt/notesMasters/notesMaster1.xml" Id="R2c6accbc8501435f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3d3a8dc41aaa4b2d" /><Relationship Type="http://schemas.openxmlformats.org/officeDocument/2006/relationships/notesMaster" Target="/ppt/notesMasters/notesMaster1.xml" Id="Rf646cc9dfd0d4aa0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8c7ce2a59c1e4627" /><Relationship Type="http://schemas.openxmlformats.org/officeDocument/2006/relationships/notesMaster" Target="/ppt/notesMasters/notesMaster1.xml" Id="R1d1302a000de4eca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1b5bbf0c0d3c4007" /><Relationship Type="http://schemas.openxmlformats.org/officeDocument/2006/relationships/notesMaster" Target="/ppt/notesMasters/notesMaster1.xml" Id="Rd7a6dafd9c854d20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Fuente: Informe CRM IoT, revisado el 24 de septiembre de 2026. Precios orientativos sujetos a país, impuestos y promociones.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Fuente: Informe CRM IoT, revisado el 24 de septiembre de 2026. Precios orientativos sujetos a país, impuestos y promociones.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Fuente: Informe CRM IoT, revisado el 24 de septiembre de 2026. Precios orientativos sujetos a país, impuestos y promociones.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Fuente: Informe CRM IoT, revisado el 24 de septiembre de 2026. Precios orientativos sujetos a país, impuestos y promociones.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Fuente: Informe CRM IoT, revisado el 24 de septiembre de 2026. Precios orientativos sujetos a país, impuestos y promociones.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Fuente: Informe CRM IoT, revisado el 24 de septiembre de 2026. Precios orientativos sujetos a país, impuestos y promociones.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Fuente: Informe CRM IoT, revisado el 24 de septiembre de 2026. Precios orientativos sujetos a país, impuestos y promociones.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Fuente: Informe CRM IoT, revisado el 24 de septiembre de 2026. Precios orientativos sujetos a país, impuestos y promociones.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Fuente: Informe CRM IoT, revisado el 24 de septiembre de 2026. Precios orientativos sujetos a país, impuestos y promociones.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Fuente: Informe CRM IoT, revisado el 24 de septiembre de 2026. Precios orientativos sujetos a país, impuestos y promociones.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Fuente: Informe CRM IoT, revisado el 24 de septiembre de 2026. Precios orientativos sujetos a país, impuestos y promociones.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394af500699244fb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8bfb875249694056" /><Relationship Type="http://schemas.openxmlformats.org/officeDocument/2006/relationships/slideLayout" Target="/ppt/slideLayouts/slideLayout1.xml" Id="R3ac0d062d2384e28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3ac0d062d2384e28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a1c8f6b522248cd" /><Relationship Type="http://schemas.openxmlformats.org/officeDocument/2006/relationships/notesSlide" Target="/ppt/notesSlides/notesSlide1.xml" Id="Rafa6ad744af6430a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892ad50155a4a71" /><Relationship Type="http://schemas.openxmlformats.org/officeDocument/2006/relationships/notesSlide" Target="/ppt/notesSlides/notesSlide2.xml" Id="R4ca66c620d0544c0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8f888eed3404b02" /><Relationship Type="http://schemas.openxmlformats.org/officeDocument/2006/relationships/notesSlide" Target="/ppt/notesSlides/notesSlide3.xml" Id="Re41a9c0231d54aaf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0985e5a318849b0" /><Relationship Type="http://schemas.openxmlformats.org/officeDocument/2006/relationships/notesSlide" Target="/ppt/notesSlides/notesSlide4.xml" Id="R92b709b573bb4699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ddeb1e5b2b3417a" /><Relationship Type="http://schemas.openxmlformats.org/officeDocument/2006/relationships/notesSlide" Target="/ppt/notesSlides/notesSlide5.xml" Id="R4bb62aecca494f53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e554719f5594e0b" /><Relationship Type="http://schemas.openxmlformats.org/officeDocument/2006/relationships/notesSlide" Target="/ppt/notesSlides/notesSlide6.xml" Id="R8cc7d8060e844cd6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2e2f69c30cd4ad6" /><Relationship Type="http://schemas.openxmlformats.org/officeDocument/2006/relationships/notesSlide" Target="/ppt/notesSlides/notesSlide7.xml" Id="R5bafa7a737e2454b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73a788f12a14c2f" /><Relationship Type="http://schemas.openxmlformats.org/officeDocument/2006/relationships/notesSlide" Target="/ppt/notesSlides/notesSlide8.xml" Id="R78ee670aa4c34962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598492bddbf4df3" /><Relationship Type="http://schemas.openxmlformats.org/officeDocument/2006/relationships/notesSlide" Target="/ppt/notesSlides/notesSlide9.xml" Id="Ra1197b2d07a84221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c79294ec4b8442b" /><Relationship Type="http://schemas.openxmlformats.org/officeDocument/2006/relationships/notesSlide" Target="/ppt/notesSlides/notesSlide10.xml" Id="R4a8f8cc2ad844bf9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3f0cc59078d4ced" /><Relationship Type="http://schemas.openxmlformats.org/officeDocument/2006/relationships/notesSlide" Target="/ppt/notesSlides/notesSlide11.xml" Id="R9e8b5ba18e9a4567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102A43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BA7F4B8-BDEA-427A-B917-D64B40ECBF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2095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2A6A1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F12B7B3-F2F1-4F72-B00C-CC3A026489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0"/>
            <a:ext cx="40957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C2237"/>
          </a:solidFill>
          <a:ln xmlns:a="http://schemas.openxmlformats.org/drawingml/2006/main" w="0">
            <a:noFill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D10B742-69DE-4F23-9B5F-22C0A9854F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514350"/>
            <a:ext cx="31432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22A6A1"/>
                </a:solidFill>
                <a:latin typeface="DejaVu Sans"/>
                <a:ea typeface="DejaVu Sans"/>
                <a:cs typeface="DejaVu Sans"/>
              </a:defRPr>
            </a:pPr>
            <a:r>
              <a:rPr sz="1275" b="1">
                <a:solidFill>
                  <a:srgbClr val="22A6A1"/>
                </a:solidFill>
                <a:latin typeface="DejaVu Sans"/>
                <a:ea typeface="DejaVu Sans"/>
                <a:cs typeface="DejaVu Sans"/>
              </a:rPr>
              <a:t>IoT FENSTER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8469282-4CA1-4488-A3AB-157707ACBB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714500"/>
            <a:ext cx="66675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5833"/>
          </a:bodyPr>
          <a:lstStyle xmlns:a="http://schemas.openxmlformats.org/drawingml/2006/main"/>
          <a:p xmlns:a="http://schemas.openxmlformats.org/drawingml/2006/main">
            <a:pPr algn="l">
              <a:defRPr sz="3600" b="1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pPr>
            <a:r>
              <a:rPr sz="3600" b="1">
                <a:solidFill>
                  <a:srgbClr val="FFFFFF"/>
                </a:solidFill>
                <a:latin typeface="DejaVu Sans"/>
                <a:ea typeface="DejaVu Sans"/>
                <a:cs typeface="DejaVu Sans"/>
              </a:rPr>
              <a:t>CRM comercial</a:t>
            </a:r>
          </a:p>
          <a:p xmlns:a="http://schemas.openxmlformats.org/drawingml/2006/main">
            <a:pPr algn="l">
              <a:defRPr sz="3600" b="1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pPr>
            <a:r>
              <a:rPr sz="3600" b="1">
                <a:solidFill>
                  <a:srgbClr val="FFFFFF"/>
                </a:solidFill>
                <a:latin typeface="DejaVu Sans"/>
                <a:ea typeface="DejaVu Sans"/>
                <a:cs typeface="DejaVu Sans"/>
              </a:rPr>
              <a:t>para IoT FENSTER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1DAE2C3-5842-4EAD-B862-2C17E41E13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3238500"/>
            <a:ext cx="5715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CFE2EA"/>
                </a:solidFill>
                <a:latin typeface="DejaVu Sans"/>
                <a:ea typeface="DejaVu Sans"/>
                <a:cs typeface="DejaVu Sans"/>
              </a:defRPr>
            </a:pPr>
            <a:r>
              <a:rPr sz="1725" b="0">
                <a:solidFill>
                  <a:srgbClr val="CFE2EA"/>
                </a:solidFill>
                <a:latin typeface="DejaVu Sans"/>
                <a:ea typeface="DejaVu Sans"/>
                <a:cs typeface="DejaVu Sans"/>
              </a:rPr>
              <a:t>Resumen para Dirección Comercial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0BDB808-029D-4F2C-87E6-4CDA736E61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4000500"/>
            <a:ext cx="200025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8C28"/>
          </a:solidFill>
          <a:ln xmlns:a="http://schemas.openxmlformats.org/drawingml/2006/main" w="0">
            <a:noFill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61B1CE1-35A0-4234-A820-967DAA1057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4343400"/>
            <a:ext cx="2381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5833"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22A6A1"/>
                </a:solidFill>
                <a:latin typeface="DejaVu Sans"/>
                <a:ea typeface="DejaVu Sans"/>
                <a:cs typeface="DejaVu Sans"/>
              </a:defRPr>
            </a:pPr>
            <a:r>
              <a:rPr sz="1200" b="1">
                <a:solidFill>
                  <a:srgbClr val="22A6A1"/>
                </a:solidFill>
                <a:latin typeface="DejaVu Sans"/>
                <a:ea typeface="DejaVu Sans"/>
                <a:cs typeface="DejaVu Sans"/>
              </a:rPr>
              <a:t>Propuesta principal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7299D59-4709-480D-933E-C6D0976C18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4686300"/>
            <a:ext cx="6477000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pPr>
            <a:r>
              <a:rPr sz="1800" b="0">
                <a:solidFill>
                  <a:srgbClr val="FFFFFF"/>
                </a:solidFill>
                <a:latin typeface="DejaVu Sans"/>
                <a:ea typeface="DejaVu Sans"/>
                <a:cs typeface="DejaVu Sans"/>
              </a:rPr>
              <a:t>Un único CRM europeo, un pipeline sencillo y una próxima acción fechada para cada oportunidad.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A2DF222-704E-4479-A8EC-D78C623EAE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6191250"/>
            <a:ext cx="4762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2308"/>
          </a:bodyPr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9BB2BF"/>
                </a:solidFill>
                <a:latin typeface="DejaVu Sans"/>
                <a:ea typeface="DejaVu Sans"/>
                <a:cs typeface="DejaVu Sans"/>
              </a:defRPr>
            </a:pPr>
            <a:r>
              <a:rPr sz="975" b="0">
                <a:solidFill>
                  <a:srgbClr val="9BB2BF"/>
                </a:solidFill>
                <a:latin typeface="DejaVu Sans"/>
                <a:ea typeface="DejaVu Sans"/>
                <a:cs typeface="DejaVu Sans"/>
              </a:rPr>
              <a:t>Preparación del equipo  ·  Septiembre 2026</a:t>
            </a:r>
          </a:p>
        </p:txBody>
      </p:sp>
    </p:spTree>
    <p:extLst>
      <p:ext uri="{BB962C8B-B14F-4D97-AF65-F5344CB8AC3E}">
        <p14:creationId xmlns:p14="http://schemas.microsoft.com/office/powerpoint/2010/main" val="170858126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097CF1E7-950D-4C42-9CFD-A0FC7642EB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"/>
            <a:ext cx="102870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475" b="1">
                <a:solidFill>
                  <a:srgbClr val="102A43"/>
                </a:solidFill>
                <a:latin typeface="DejaVu Sans"/>
                <a:ea typeface="DejaVu Sans"/>
                <a:cs typeface="DejaVu Sans"/>
              </a:defRPr>
            </a:pPr>
            <a:r>
              <a:rPr sz="2475" b="1">
                <a:solidFill>
                  <a:srgbClr val="102A43"/>
                </a:solidFill>
                <a:latin typeface="DejaVu Sans"/>
                <a:ea typeface="DejaVu Sans"/>
                <a:cs typeface="DejaVu Sans"/>
              </a:rPr>
              <a:t>Recomendación ejecutiva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D2BB34D-FEE9-4C69-A8F0-25C19C5B46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066800"/>
            <a:ext cx="109728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2A6A1"/>
          </a:solidFill>
          <a:ln xmlns:a="http://schemas.openxmlformats.org/drawingml/2006/main" w="0">
            <a:noFill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BFA68D7-3CDB-4AD0-9F92-CE3A24ABE9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68050" y="419100"/>
            <a:ext cx="5143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125" b="1">
                <a:solidFill>
                  <a:srgbClr val="5D6B75"/>
                </a:solidFill>
                <a:latin typeface="DejaVu Sans"/>
                <a:ea typeface="DejaVu Sans"/>
                <a:cs typeface="DejaVu Sans"/>
              </a:defRPr>
            </a:pPr>
            <a:r>
              <a:rPr sz="1125" b="1">
                <a:solidFill>
                  <a:srgbClr val="5D6B75"/>
                </a:solidFill>
                <a:latin typeface="DejaVu Sans"/>
                <a:ea typeface="DejaVu Sans"/>
                <a:cs typeface="DejaVu Sans"/>
              </a:rPr>
              <a:t>02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DD8234C-E9D8-4121-A7B4-3249D44E8F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476375"/>
            <a:ext cx="3333750" cy="2476500"/>
          </a:xfrm>
          <a:prstGeom xmlns:a="http://schemas.openxmlformats.org/drawingml/2006/main" prst="roundRect">
            <a:avLst>
              <a:gd name="adj" fmla="val 3077"/>
            </a:avLst>
          </a:prstGeom>
          <a:solidFill xmlns:a="http://schemas.openxmlformats.org/drawingml/2006/main">
            <a:srgbClr val="102A43"/>
          </a:solidFill>
          <a:ln xmlns:a="http://schemas.openxmlformats.org/drawingml/2006/main" w="0">
            <a:noFill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6B79B05-0CF1-4F85-99DE-D0864C4889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1704975"/>
            <a:ext cx="28765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22A6A1"/>
                </a:solidFill>
                <a:latin typeface="DejaVu Sans"/>
                <a:ea typeface="DejaVu Sans"/>
                <a:cs typeface="DejaVu Sans"/>
              </a:defRPr>
            </a:pPr>
            <a:r>
              <a:rPr sz="1425" b="1">
                <a:solidFill>
                  <a:srgbClr val="22A6A1"/>
                </a:solidFill>
                <a:latin typeface="DejaVu Sans"/>
                <a:ea typeface="DejaVu Sans"/>
                <a:cs typeface="DejaVu Sans"/>
              </a:rPr>
              <a:t>OPCIÓN RECOMENDADA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9DF40DF-2C5E-46A0-95BC-60811AC9E9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2219325"/>
            <a:ext cx="2876550" cy="1428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pPr>
            <a:r>
              <a:rPr sz="1350" b="0">
                <a:solidFill>
                  <a:srgbClr val="FFFFFF"/>
                </a:solidFill>
                <a:latin typeface="DejaVu Sans"/>
                <a:ea typeface="DejaVu Sans"/>
                <a:cs typeface="DejaVu Sans"/>
              </a:rPr>
              <a:t>Bigin by Zoho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1350" b="0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pPr>
            <a:r>
              <a:rPr sz="1350" b="0">
                <a:solidFill>
                  <a:srgbClr val="FFFFFF"/>
                </a:solidFill>
                <a:latin typeface="DejaVu Sans"/>
                <a:ea typeface="DejaVu Sans"/>
                <a:cs typeface="DejaVu Sans"/>
              </a:rPr>
              <a:t>Sencillo, visual, móvil y preparado para crecer hacia Zoho CRM.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54152BD-AACC-4300-907E-C2061BDC8D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67175" y="1476375"/>
            <a:ext cx="3333750" cy="2476500"/>
          </a:xfrm>
          <a:prstGeom xmlns:a="http://schemas.openxmlformats.org/drawingml/2006/main" prst="roundRect">
            <a:avLst>
              <a:gd name="adj" fmla="val 3077"/>
            </a:avLst>
          </a:prstGeom>
          <a:solidFill xmlns:a="http://schemas.openxmlformats.org/drawingml/2006/main">
            <a:srgbClr val="EFF5F8"/>
          </a:solidFill>
          <a:ln xmlns:a="http://schemas.openxmlformats.org/drawingml/2006/main" w="9525">
            <a:solidFill>
              <a:srgbClr val="CBD8DE"/>
            </a:solidFill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7C78BFD-1FF0-4213-829E-09C2E17BF9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95775" y="1704975"/>
            <a:ext cx="28765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176B87"/>
                </a:solidFill>
                <a:latin typeface="DejaVu Sans"/>
                <a:ea typeface="DejaVu Sans"/>
                <a:cs typeface="DejaVu Sans"/>
              </a:defRPr>
            </a:pPr>
            <a:r>
              <a:rPr sz="1425" b="1">
                <a:solidFill>
                  <a:srgbClr val="176B87"/>
                </a:solidFill>
                <a:latin typeface="DejaVu Sans"/>
                <a:ea typeface="DejaVu Sans"/>
                <a:cs typeface="DejaVu Sans"/>
              </a:rPr>
              <a:t>MODELO DE TRABAJO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0733ADD-77CA-43A7-A020-B405E72F5D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95775" y="2219325"/>
            <a:ext cx="2876550" cy="1428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5232E"/>
                </a:solidFill>
                <a:latin typeface="DejaVu Sans"/>
                <a:ea typeface="DejaVu Sans"/>
                <a:cs typeface="DejaVu Sans"/>
              </a:defRPr>
            </a:pPr>
            <a:r>
              <a:rPr sz="1350" b="0">
                <a:solidFill>
                  <a:srgbClr val="15232E"/>
                </a:solidFill>
                <a:latin typeface="DejaVu Sans"/>
                <a:ea typeface="DejaVu Sans"/>
                <a:cs typeface="DejaVu Sans"/>
              </a:rPr>
              <a:t>Un CRM para toda Europa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1350" b="0">
                <a:solidFill>
                  <a:srgbClr val="15232E"/>
                </a:solidFill>
                <a:latin typeface="DejaVu Sans"/>
                <a:ea typeface="DejaVu Sans"/>
                <a:cs typeface="DejaVu Sans"/>
              </a:defRPr>
            </a:pPr>
            <a:r>
              <a:rPr sz="1350" b="0">
                <a:solidFill>
                  <a:srgbClr val="15232E"/>
                </a:solidFill>
                <a:latin typeface="DejaVu Sans"/>
                <a:ea typeface="DejaVu Sans"/>
                <a:cs typeface="DejaVu Sans"/>
              </a:rPr>
              <a:t>País y comercial responsable organizan las oportunidades.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6FAE078-6C3A-49CE-A898-02A4A9297A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0" y="1476375"/>
            <a:ext cx="3790950" cy="2476500"/>
          </a:xfrm>
          <a:prstGeom xmlns:a="http://schemas.openxmlformats.org/drawingml/2006/main" prst="roundRect">
            <a:avLst>
              <a:gd name="adj" fmla="val 3077"/>
            </a:avLst>
          </a:prstGeom>
          <a:solidFill xmlns:a="http://schemas.openxmlformats.org/drawingml/2006/main">
            <a:srgbClr val="EFF5F8"/>
          </a:solidFill>
          <a:ln xmlns:a="http://schemas.openxmlformats.org/drawingml/2006/main" w="9525">
            <a:solidFill>
              <a:srgbClr val="CBD8DE"/>
            </a:solidFill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D69B75B5-E776-41C6-981D-60D59413D1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53350" y="1704975"/>
            <a:ext cx="33337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176B87"/>
                </a:solidFill>
                <a:latin typeface="DejaVu Sans"/>
                <a:ea typeface="DejaVu Sans"/>
                <a:cs typeface="DejaVu Sans"/>
              </a:defRPr>
            </a:pPr>
            <a:r>
              <a:rPr sz="1425" b="1">
                <a:solidFill>
                  <a:srgbClr val="176B87"/>
                </a:solidFill>
                <a:latin typeface="DejaVu Sans"/>
                <a:ea typeface="DejaVu Sans"/>
                <a:cs typeface="DejaVu Sans"/>
              </a:rPr>
              <a:t>REGLA ESENCIAL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58A31609-6FB6-4523-8D21-DF9248102E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53350" y="2219325"/>
            <a:ext cx="3333750" cy="1428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5232E"/>
                </a:solidFill>
                <a:latin typeface="DejaVu Sans"/>
                <a:ea typeface="DejaVu Sans"/>
                <a:cs typeface="DejaVu Sans"/>
              </a:defRPr>
            </a:pPr>
            <a:r>
              <a:rPr sz="1350" b="0">
                <a:solidFill>
                  <a:srgbClr val="15232E"/>
                </a:solidFill>
                <a:latin typeface="DejaVu Sans"/>
                <a:ea typeface="DejaVu Sans"/>
                <a:cs typeface="DejaVu Sans"/>
              </a:rPr>
              <a:t>Toda oportunidad abierta debe tener próxima acción y fecha.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0E237DFE-5E38-4D38-BBF3-A3BC8AE4FE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476750"/>
            <a:ext cx="10706100" cy="1143000"/>
          </a:xfrm>
          <a:prstGeom xmlns:a="http://schemas.openxmlformats.org/drawingml/2006/main" prst="roundRect">
            <a:avLst>
              <a:gd name="adj" fmla="val 6667"/>
            </a:avLst>
          </a:prstGeom>
          <a:solidFill xmlns:a="http://schemas.openxmlformats.org/drawingml/2006/main">
            <a:srgbClr val="DFF4F3"/>
          </a:solidFill>
          <a:ln xmlns:a="http://schemas.openxmlformats.org/drawingml/2006/main" w="0">
            <a:noFill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A0BFC45B-3636-492F-9875-62ED7AD423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4686300"/>
            <a:ext cx="21907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80392"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176B87"/>
                </a:solidFill>
                <a:latin typeface="DejaVu Sans"/>
                <a:ea typeface="DejaVu Sans"/>
                <a:cs typeface="DejaVu Sans"/>
              </a:defRPr>
            </a:pPr>
            <a:r>
              <a:rPr sz="1275" b="1">
                <a:solidFill>
                  <a:srgbClr val="176B87"/>
                </a:solidFill>
                <a:latin typeface="DejaVu Sans"/>
                <a:ea typeface="DejaVu Sans"/>
                <a:cs typeface="DejaVu Sans"/>
              </a:rPr>
              <a:t>Conclusión del informe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142DA4B7-8A7E-48EC-9096-5B8A02FD96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5048250"/>
            <a:ext cx="100012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80159"/>
          </a:bodyPr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15232E"/>
                </a:solidFill>
                <a:latin typeface="DejaVu Sans"/>
                <a:ea typeface="DejaVu Sans"/>
                <a:cs typeface="DejaVu Sans"/>
              </a:defRPr>
            </a:pPr>
            <a:r>
              <a:rPr sz="1575" b="1">
                <a:solidFill>
                  <a:srgbClr val="15232E"/>
                </a:solidFill>
                <a:latin typeface="DejaVu Sans"/>
                <a:ea typeface="DejaVu Sans"/>
                <a:cs typeface="DejaVu Sans"/>
              </a:rPr>
              <a:t>No compensa desarrollar un CRM propio. El equipo técnico debe concentrarse en la plataforma B2B de pedidos y adoptar una herramienta comercial existente.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1B0C3354-30D0-4030-B70D-7097F62C14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77000"/>
            <a:ext cx="6858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3939"/>
          </a:bodyPr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5D6B75"/>
                </a:solidFill>
                <a:latin typeface="DejaVu Sans"/>
                <a:ea typeface="DejaVu Sans"/>
                <a:cs typeface="DejaVu Sans"/>
              </a:defRPr>
            </a:pPr>
            <a:r>
              <a:rPr sz="825" b="0">
                <a:solidFill>
                  <a:srgbClr val="5D6B75"/>
                </a:solidFill>
                <a:latin typeface="DejaVu Sans"/>
                <a:ea typeface="DejaVu Sans"/>
                <a:cs typeface="DejaVu Sans"/>
              </a:rPr>
              <a:t>IoT FENSTER  ·  CRM comercial  ·  Documento de preparación</a:t>
            </a:r>
          </a:p>
        </p:txBody>
      </p:sp>
    </p:spTree>
    <p:extLst>
      <p:ext uri="{BB962C8B-B14F-4D97-AF65-F5344CB8AC3E}">
        <p14:creationId xmlns:p14="http://schemas.microsoft.com/office/powerpoint/2010/main" val="1205885733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9F228085-10A5-4714-AE71-4AB424878E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"/>
            <a:ext cx="102870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475" b="1">
                <a:solidFill>
                  <a:srgbClr val="102A43"/>
                </a:solidFill>
                <a:latin typeface="DejaVu Sans"/>
                <a:ea typeface="DejaVu Sans"/>
                <a:cs typeface="DejaVu Sans"/>
              </a:defRPr>
            </a:pPr>
            <a:r>
              <a:rPr sz="2475" b="1">
                <a:solidFill>
                  <a:srgbClr val="102A43"/>
                </a:solidFill>
                <a:latin typeface="DejaVu Sans"/>
                <a:ea typeface="DejaVu Sans"/>
                <a:cs typeface="DejaVu Sans"/>
              </a:rPr>
              <a:t>Comparativa de alternativas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8579EA4-91B3-4235-8A12-DD477ACABB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066800"/>
            <a:ext cx="109728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2A6A1"/>
          </a:solidFill>
          <a:ln xmlns:a="http://schemas.openxmlformats.org/drawingml/2006/main" w="0">
            <a:noFill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60EDA7D-BE10-49AF-A719-A8B07C627D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68050" y="419100"/>
            <a:ext cx="5143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125" b="1">
                <a:solidFill>
                  <a:srgbClr val="5D6B75"/>
                </a:solidFill>
                <a:latin typeface="DejaVu Sans"/>
                <a:ea typeface="DejaVu Sans"/>
                <a:cs typeface="DejaVu Sans"/>
              </a:defRPr>
            </a:pPr>
            <a:r>
              <a:rPr sz="1125" b="1">
                <a:solidFill>
                  <a:srgbClr val="5D6B75"/>
                </a:solidFill>
                <a:latin typeface="DejaVu Sans"/>
                <a:ea typeface="DejaVu Sans"/>
                <a:cs typeface="DejaVu Sans"/>
              </a:rPr>
              <a:t>03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C795C99-2310-4BD4-8E64-8A58DC5B6A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352550"/>
            <a:ext cx="10706100" cy="476250"/>
          </a:xfrm>
          <a:prstGeom xmlns:a="http://schemas.openxmlformats.org/drawingml/2006/main" prst="roundRect">
            <a:avLst>
              <a:gd name="adj" fmla="val 16000"/>
            </a:avLst>
          </a:prstGeom>
          <a:solidFill xmlns:a="http://schemas.openxmlformats.org/drawingml/2006/main">
            <a:srgbClr val="102A43"/>
          </a:solidFill>
          <a:ln xmlns:a="http://schemas.openxmlformats.org/drawingml/2006/main" w="0">
            <a:noFill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EBAC68C-A740-4173-B97F-1F037D54D0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1428750"/>
            <a:ext cx="157162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pPr>
            <a:r>
              <a:rPr sz="1200" b="1">
                <a:solidFill>
                  <a:srgbClr val="FFFFFF"/>
                </a:solidFill>
                <a:latin typeface="DejaVu Sans"/>
                <a:ea typeface="DejaVu Sans"/>
                <a:cs typeface="DejaVu Sans"/>
              </a:rPr>
              <a:t>CRM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018D6AE-8E8A-4824-94AC-5A51C92F5D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71750" y="1428750"/>
            <a:ext cx="261937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pPr>
            <a:r>
              <a:rPr sz="1200" b="1">
                <a:solidFill>
                  <a:srgbClr val="FFFFFF"/>
                </a:solidFill>
                <a:latin typeface="DejaVu Sans"/>
                <a:ea typeface="DejaVu Sans"/>
                <a:cs typeface="DejaVu Sans"/>
              </a:rPr>
              <a:t>COSTE INICIAL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33EF048-18DE-4AE1-BD28-5BE8DA8FD1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29250" y="1428750"/>
            <a:ext cx="1428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pPr>
            <a:r>
              <a:rPr sz="1200" b="1">
                <a:solidFill>
                  <a:srgbClr val="FFFFFF"/>
                </a:solidFill>
                <a:latin typeface="DejaVu Sans"/>
                <a:ea typeface="DejaVu Sans"/>
                <a:cs typeface="DejaVu Sans"/>
              </a:rPr>
              <a:t>FACILIDAD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1AB3994-B842-48E5-9379-218563868C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0" y="1428750"/>
            <a:ext cx="3905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pPr>
            <a:r>
              <a:rPr sz="1200" b="1">
                <a:solidFill>
                  <a:srgbClr val="FFFFFF"/>
                </a:solidFill>
                <a:latin typeface="DejaVu Sans"/>
                <a:ea typeface="DejaVu Sans"/>
                <a:cs typeface="DejaVu Sans"/>
              </a:rPr>
              <a:t>LECTURA PARA IoT FENSTER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5CB39FF-F90C-410B-99A4-71327D2C8A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924050"/>
            <a:ext cx="10706100" cy="514350"/>
          </a:xfrm>
          <a:prstGeom xmlns:a="http://schemas.openxmlformats.org/drawingml/2006/main" prst="roundRect">
            <a:avLst>
              <a:gd name="adj" fmla="val 14815"/>
            </a:avLst>
          </a:prstGeom>
          <a:solidFill xmlns:a="http://schemas.openxmlformats.org/drawingml/2006/main">
            <a:srgbClr val="DFF4F3"/>
          </a:solidFill>
          <a:ln xmlns:a="http://schemas.openxmlformats.org/drawingml/2006/main" w="9525">
            <a:solidFill>
              <a:srgbClr val="CBD8DE"/>
            </a:solidFill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6A455E2-6971-41AE-A049-1F88B8846B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000250"/>
            <a:ext cx="1571625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102A43"/>
                </a:solidFill>
                <a:latin typeface="DejaVu Sans"/>
                <a:ea typeface="DejaVu Sans"/>
                <a:cs typeface="DejaVu Sans"/>
              </a:defRPr>
            </a:pPr>
            <a:r>
              <a:rPr sz="1275" b="1">
                <a:solidFill>
                  <a:srgbClr val="102A43"/>
                </a:solidFill>
                <a:latin typeface="DejaVu Sans"/>
                <a:ea typeface="DejaVu Sans"/>
                <a:cs typeface="DejaVu Sans"/>
              </a:rPr>
              <a:t>Bigin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00E7AF0F-CA8E-4EC5-8E29-C04E74E71A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71750" y="2000250"/>
            <a:ext cx="2619375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5D6B75"/>
                </a:solidFill>
                <a:latin typeface="DejaVu Sans"/>
                <a:ea typeface="DejaVu Sans"/>
                <a:cs typeface="DejaVu Sans"/>
              </a:defRPr>
            </a:pPr>
            <a:r>
              <a:rPr sz="1200" b="0">
                <a:solidFill>
                  <a:srgbClr val="5D6B75"/>
                </a:solidFill>
                <a:latin typeface="DejaVu Sans"/>
                <a:ea typeface="DejaVu Sans"/>
                <a:cs typeface="DejaVu Sans"/>
              </a:rPr>
              <a:t>≈ 7 $ / usuario / mes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8FB5CA2D-A753-4C1E-AB05-84C24924A9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29250" y="2000250"/>
            <a:ext cx="14287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15232E"/>
                </a:solidFill>
                <a:latin typeface="DejaVu Sans"/>
                <a:ea typeface="DejaVu Sans"/>
                <a:cs typeface="DejaVu Sans"/>
              </a:defRPr>
            </a:pPr>
            <a:r>
              <a:rPr sz="1200" b="0">
                <a:solidFill>
                  <a:srgbClr val="15232E"/>
                </a:solidFill>
                <a:latin typeface="DejaVu Sans"/>
                <a:ea typeface="DejaVu Sans"/>
                <a:cs typeface="DejaVu Sans"/>
              </a:rPr>
              <a:t>Muy alta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D411A874-EBEE-41F7-941F-A290CA20D8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0" y="2000250"/>
            <a:ext cx="39052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176B87"/>
                </a:solidFill>
                <a:latin typeface="DejaVu Sans"/>
                <a:ea typeface="DejaVu Sans"/>
                <a:cs typeface="DejaVu Sans"/>
              </a:defRPr>
            </a:pPr>
            <a:r>
              <a:rPr sz="1200" b="1">
                <a:solidFill>
                  <a:srgbClr val="176B87"/>
                </a:solidFill>
                <a:latin typeface="DejaVu Sans"/>
                <a:ea typeface="DejaVu Sans"/>
                <a:cs typeface="DejaVu Sans"/>
              </a:rPr>
              <a:t>Primera opción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5E005CE2-5B54-4EC9-84F1-B6CD210B64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543175"/>
            <a:ext cx="10706100" cy="514350"/>
          </a:xfrm>
          <a:prstGeom xmlns:a="http://schemas.openxmlformats.org/drawingml/2006/main" prst="roundRect">
            <a:avLst>
              <a:gd name="adj" fmla="val 14815"/>
            </a:avLst>
          </a:prstGeom>
          <a:solidFill xmlns:a="http://schemas.openxmlformats.org/drawingml/2006/main">
            <a:srgbClr val="EFF5F8"/>
          </a:solidFill>
          <a:ln xmlns:a="http://schemas.openxmlformats.org/drawingml/2006/main" w="9525">
            <a:solidFill>
              <a:srgbClr val="CBD8DE"/>
            </a:solidFill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026DD560-5779-4FC4-A813-6CD156EA4E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619375"/>
            <a:ext cx="1571625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02A43"/>
                </a:solidFill>
                <a:latin typeface="DejaVu Sans"/>
                <a:ea typeface="DejaVu Sans"/>
                <a:cs typeface="DejaVu Sans"/>
              </a:defRPr>
            </a:pPr>
            <a:r>
              <a:rPr sz="1275" b="0">
                <a:solidFill>
                  <a:srgbClr val="102A43"/>
                </a:solidFill>
                <a:latin typeface="DejaVu Sans"/>
                <a:ea typeface="DejaVu Sans"/>
                <a:cs typeface="DejaVu Sans"/>
              </a:rPr>
              <a:t>Zoho CRM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FB9D9EBB-5F98-4D49-BC34-552E3096B9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71750" y="2619375"/>
            <a:ext cx="2619375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5D6B75"/>
                </a:solidFill>
                <a:latin typeface="DejaVu Sans"/>
                <a:ea typeface="DejaVu Sans"/>
                <a:cs typeface="DejaVu Sans"/>
              </a:defRPr>
            </a:pPr>
            <a:r>
              <a:rPr sz="1200" b="0">
                <a:solidFill>
                  <a:srgbClr val="5D6B75"/>
                </a:solidFill>
                <a:latin typeface="DejaVu Sans"/>
                <a:ea typeface="DejaVu Sans"/>
                <a:cs typeface="DejaVu Sans"/>
              </a:rPr>
              <a:t>Gratis hasta 3 usuarios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249B5980-8224-4FC7-96C2-3E3D944B85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29250" y="2619375"/>
            <a:ext cx="14287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15232E"/>
                </a:solidFill>
                <a:latin typeface="DejaVu Sans"/>
                <a:ea typeface="DejaVu Sans"/>
                <a:cs typeface="DejaVu Sans"/>
              </a:defRPr>
            </a:pPr>
            <a:r>
              <a:rPr sz="1200" b="0">
                <a:solidFill>
                  <a:srgbClr val="15232E"/>
                </a:solidFill>
                <a:latin typeface="DejaVu Sans"/>
                <a:ea typeface="DejaVu Sans"/>
                <a:cs typeface="DejaVu Sans"/>
              </a:rPr>
              <a:t>Media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CA43F4B9-2305-4C26-BB83-2F2D7D2495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0" y="2619375"/>
            <a:ext cx="39052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15232E"/>
                </a:solidFill>
                <a:latin typeface="DejaVu Sans"/>
                <a:ea typeface="DejaVu Sans"/>
                <a:cs typeface="DejaVu Sans"/>
              </a:defRPr>
            </a:pPr>
            <a:r>
              <a:rPr sz="1200" b="0">
                <a:solidFill>
                  <a:srgbClr val="15232E"/>
                </a:solidFill>
                <a:latin typeface="DejaVu Sans"/>
                <a:ea typeface="DejaVu Sans"/>
                <a:cs typeface="DejaVu Sans"/>
              </a:rPr>
              <a:t>Empezar a 0 €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E6B75212-64D2-42D6-BE0F-A9B693D249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162300"/>
            <a:ext cx="10706100" cy="514350"/>
          </a:xfrm>
          <a:prstGeom xmlns:a="http://schemas.openxmlformats.org/drawingml/2006/main" prst="roundRect">
            <a:avLst>
              <a:gd name="adj" fmla="val 1481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BD8DE"/>
            </a:solidFill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CFAD88DA-E184-4336-A6AE-5B7A344794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238500"/>
            <a:ext cx="1571625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02A43"/>
                </a:solidFill>
                <a:latin typeface="DejaVu Sans"/>
                <a:ea typeface="DejaVu Sans"/>
                <a:cs typeface="DejaVu Sans"/>
              </a:defRPr>
            </a:pPr>
            <a:r>
              <a:rPr sz="1275" b="0">
                <a:solidFill>
                  <a:srgbClr val="102A43"/>
                </a:solidFill>
                <a:latin typeface="DejaVu Sans"/>
                <a:ea typeface="DejaVu Sans"/>
                <a:cs typeface="DejaVu Sans"/>
              </a:rPr>
              <a:t>HubSpot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875AC480-C15D-42E8-9F9C-B2D7619473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71750" y="3238500"/>
            <a:ext cx="2619375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5D6B75"/>
                </a:solidFill>
                <a:latin typeface="DejaVu Sans"/>
                <a:ea typeface="DejaVu Sans"/>
                <a:cs typeface="DejaVu Sans"/>
              </a:defRPr>
            </a:pPr>
            <a:r>
              <a:rPr sz="1200" b="0">
                <a:solidFill>
                  <a:srgbClr val="5D6B75"/>
                </a:solidFill>
                <a:latin typeface="DejaVu Sans"/>
                <a:ea typeface="DejaVu Sans"/>
                <a:cs typeface="DejaVu Sans"/>
              </a:rPr>
              <a:t>Gratis hasta 2 usuarios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ADCC24E3-94D3-4D7A-A3D5-BA0C6D9BCD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29250" y="3238500"/>
            <a:ext cx="14287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15232E"/>
                </a:solidFill>
                <a:latin typeface="DejaVu Sans"/>
                <a:ea typeface="DejaVu Sans"/>
                <a:cs typeface="DejaVu Sans"/>
              </a:defRPr>
            </a:pPr>
            <a:r>
              <a:rPr sz="1200" b="0">
                <a:solidFill>
                  <a:srgbClr val="15232E"/>
                </a:solidFill>
                <a:latin typeface="DejaVu Sans"/>
                <a:ea typeface="DejaVu Sans"/>
                <a:cs typeface="DejaVu Sans"/>
              </a:rPr>
              <a:t>Alta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EB8B4ABD-2838-4C58-AF4D-9A9C289B8E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0" y="3238500"/>
            <a:ext cx="39052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15232E"/>
                </a:solidFill>
                <a:latin typeface="DejaVu Sans"/>
                <a:ea typeface="DejaVu Sans"/>
                <a:cs typeface="DejaVu Sans"/>
              </a:defRPr>
            </a:pPr>
            <a:r>
              <a:rPr sz="1200" b="0">
                <a:solidFill>
                  <a:srgbClr val="15232E"/>
                </a:solidFill>
                <a:latin typeface="DejaVu Sans"/>
                <a:ea typeface="DejaVu Sans"/>
                <a:cs typeface="DejaVu Sans"/>
              </a:rPr>
              <a:t>Puede encarecerse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0A9FE82A-69D1-44B9-A204-75FC1BA426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781425"/>
            <a:ext cx="10706100" cy="514350"/>
          </a:xfrm>
          <a:prstGeom xmlns:a="http://schemas.openxmlformats.org/drawingml/2006/main" prst="roundRect">
            <a:avLst>
              <a:gd name="adj" fmla="val 14815"/>
            </a:avLst>
          </a:prstGeom>
          <a:solidFill xmlns:a="http://schemas.openxmlformats.org/drawingml/2006/main">
            <a:srgbClr val="EFF5F8"/>
          </a:solidFill>
          <a:ln xmlns:a="http://schemas.openxmlformats.org/drawingml/2006/main" w="9525">
            <a:solidFill>
              <a:srgbClr val="CBD8DE"/>
            </a:solidFill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33D9134E-6ADD-4E41-A450-C5C0C95D07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857625"/>
            <a:ext cx="1571625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02A43"/>
                </a:solidFill>
                <a:latin typeface="DejaVu Sans"/>
                <a:ea typeface="DejaVu Sans"/>
                <a:cs typeface="DejaVu Sans"/>
              </a:defRPr>
            </a:pPr>
            <a:r>
              <a:rPr sz="1275" b="0">
                <a:solidFill>
                  <a:srgbClr val="102A43"/>
                </a:solidFill>
                <a:latin typeface="DejaVu Sans"/>
                <a:ea typeface="DejaVu Sans"/>
                <a:cs typeface="DejaVu Sans"/>
              </a:rPr>
              <a:t>Pipedrive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1D4B2E63-A8AC-4429-B8BF-2C6320C2F5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71750" y="3857625"/>
            <a:ext cx="2619375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5D6B75"/>
                </a:solidFill>
                <a:latin typeface="DejaVu Sans"/>
                <a:ea typeface="DejaVu Sans"/>
                <a:cs typeface="DejaVu Sans"/>
              </a:defRPr>
            </a:pPr>
            <a:r>
              <a:rPr sz="1200" b="0">
                <a:solidFill>
                  <a:srgbClr val="5D6B75"/>
                </a:solidFill>
                <a:latin typeface="DejaVu Sans"/>
                <a:ea typeface="DejaVu Sans"/>
                <a:cs typeface="DejaVu Sans"/>
              </a:rPr>
              <a:t>Desde 14 $ / usuario / mes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17928E96-7A8F-4732-AFB2-C0E195CE16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29250" y="3857625"/>
            <a:ext cx="14287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15232E"/>
                </a:solidFill>
                <a:latin typeface="DejaVu Sans"/>
                <a:ea typeface="DejaVu Sans"/>
                <a:cs typeface="DejaVu Sans"/>
              </a:defRPr>
            </a:pPr>
            <a:r>
              <a:rPr sz="1200" b="0">
                <a:solidFill>
                  <a:srgbClr val="15232E"/>
                </a:solidFill>
                <a:latin typeface="DejaVu Sans"/>
                <a:ea typeface="DejaVu Sans"/>
                <a:cs typeface="DejaVu Sans"/>
              </a:rPr>
              <a:t>Muy alta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9E773E65-5FFA-46D6-9664-E49B8BB829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0" y="3857625"/>
            <a:ext cx="39052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15232E"/>
                </a:solidFill>
                <a:latin typeface="DejaVu Sans"/>
                <a:ea typeface="DejaVu Sans"/>
                <a:cs typeface="DejaVu Sans"/>
              </a:defRPr>
            </a:pPr>
            <a:r>
              <a:rPr sz="1200" b="0">
                <a:solidFill>
                  <a:srgbClr val="15232E"/>
                </a:solidFill>
                <a:latin typeface="DejaVu Sans"/>
                <a:ea typeface="DejaVu Sans"/>
                <a:cs typeface="DejaVu Sans"/>
              </a:rPr>
              <a:t>Gran experiencia comercial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6DD44719-5BFD-46C1-98D8-310F1FD23D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400550"/>
            <a:ext cx="10706100" cy="514350"/>
          </a:xfrm>
          <a:prstGeom xmlns:a="http://schemas.openxmlformats.org/drawingml/2006/main" prst="roundRect">
            <a:avLst>
              <a:gd name="adj" fmla="val 1481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BD8DE"/>
            </a:solidFill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1738A2E9-DC98-4C13-914D-5D23FA905C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4476750"/>
            <a:ext cx="1571625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02A43"/>
                </a:solidFill>
                <a:latin typeface="DejaVu Sans"/>
                <a:ea typeface="DejaVu Sans"/>
                <a:cs typeface="DejaVu Sans"/>
              </a:defRPr>
            </a:pPr>
            <a:r>
              <a:rPr sz="1275" b="0">
                <a:solidFill>
                  <a:srgbClr val="102A43"/>
                </a:solidFill>
                <a:latin typeface="DejaVu Sans"/>
                <a:ea typeface="DejaVu Sans"/>
                <a:cs typeface="DejaVu Sans"/>
              </a:rPr>
              <a:t>Freshsales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42360B21-0B10-4B7D-A936-79735F5D3A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71750" y="4476750"/>
            <a:ext cx="2619375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5D6B75"/>
                </a:solidFill>
                <a:latin typeface="DejaVu Sans"/>
                <a:ea typeface="DejaVu Sans"/>
                <a:cs typeface="DejaVu Sans"/>
              </a:defRPr>
            </a:pPr>
            <a:r>
              <a:rPr sz="1200" b="0">
                <a:solidFill>
                  <a:srgbClr val="5D6B75"/>
                </a:solidFill>
                <a:latin typeface="DejaVu Sans"/>
                <a:ea typeface="DejaVu Sans"/>
                <a:cs typeface="DejaVu Sans"/>
              </a:rPr>
              <a:t>Desde 9 € / usuario / mes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685F801A-E9DE-408B-BFAA-2C58D83029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29250" y="4476750"/>
            <a:ext cx="14287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15232E"/>
                </a:solidFill>
                <a:latin typeface="DejaVu Sans"/>
                <a:ea typeface="DejaVu Sans"/>
                <a:cs typeface="DejaVu Sans"/>
              </a:defRPr>
            </a:pPr>
            <a:r>
              <a:rPr sz="1200" b="0">
                <a:solidFill>
                  <a:srgbClr val="15232E"/>
                </a:solidFill>
                <a:latin typeface="DejaVu Sans"/>
                <a:ea typeface="DejaVu Sans"/>
                <a:cs typeface="DejaVu Sans"/>
              </a:rPr>
              <a:t>Alta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A888F1F0-70F0-4A1F-BAAA-A7AEA8B73E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0" y="4476750"/>
            <a:ext cx="39052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15232E"/>
                </a:solidFill>
                <a:latin typeface="DejaVu Sans"/>
                <a:ea typeface="DejaVu Sans"/>
                <a:cs typeface="DejaVu Sans"/>
              </a:defRPr>
            </a:pPr>
            <a:r>
              <a:rPr sz="1200" b="0">
                <a:solidFill>
                  <a:srgbClr val="15232E"/>
                </a:solidFill>
                <a:latin typeface="DejaVu Sans"/>
                <a:ea typeface="DejaVu Sans"/>
                <a:cs typeface="DejaVu Sans"/>
              </a:rPr>
              <a:t>Alternativa sólida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6FB44FD3-9014-4BDB-97E0-B35F2E0578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019675"/>
            <a:ext cx="10706100" cy="514350"/>
          </a:xfrm>
          <a:prstGeom xmlns:a="http://schemas.openxmlformats.org/drawingml/2006/main" prst="roundRect">
            <a:avLst>
              <a:gd name="adj" fmla="val 14815"/>
            </a:avLst>
          </a:prstGeom>
          <a:solidFill xmlns:a="http://schemas.openxmlformats.org/drawingml/2006/main">
            <a:srgbClr val="EFF5F8"/>
          </a:solidFill>
          <a:ln xmlns:a="http://schemas.openxmlformats.org/drawingml/2006/main" w="9525">
            <a:solidFill>
              <a:srgbClr val="CBD8DE"/>
            </a:solidFill>
          </a:ln>
        </p:spPr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7EA7F98C-6511-4DBB-AF7B-844FA78C1B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5095875"/>
            <a:ext cx="1571625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02A43"/>
                </a:solidFill>
                <a:latin typeface="DejaVu Sans"/>
                <a:ea typeface="DejaVu Sans"/>
                <a:cs typeface="DejaVu Sans"/>
              </a:defRPr>
            </a:pPr>
            <a:r>
              <a:rPr sz="1275" b="0">
                <a:solidFill>
                  <a:srgbClr val="102A43"/>
                </a:solidFill>
                <a:latin typeface="DejaVu Sans"/>
                <a:ea typeface="DejaVu Sans"/>
                <a:cs typeface="DejaVu Sans"/>
              </a:rPr>
              <a:t>Bitrix24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8E062849-2B80-4797-8F79-947CC37185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71750" y="5095875"/>
            <a:ext cx="2619375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5D6B75"/>
                </a:solidFill>
                <a:latin typeface="DejaVu Sans"/>
                <a:ea typeface="DejaVu Sans"/>
                <a:cs typeface="DejaVu Sans"/>
              </a:defRPr>
            </a:pPr>
            <a:r>
              <a:rPr sz="1200" b="0">
                <a:solidFill>
                  <a:srgbClr val="5D6B75"/>
                </a:solidFill>
                <a:latin typeface="DejaVu Sans"/>
                <a:ea typeface="DejaVu Sans"/>
                <a:cs typeface="DejaVu Sans"/>
              </a:rPr>
              <a:t>Versión gratuita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A63F3632-83EE-49C7-978E-F2041D6821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29250" y="5095875"/>
            <a:ext cx="14287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15232E"/>
                </a:solidFill>
                <a:latin typeface="DejaVu Sans"/>
                <a:ea typeface="DejaVu Sans"/>
                <a:cs typeface="DejaVu Sans"/>
              </a:defRPr>
            </a:pPr>
            <a:r>
              <a:rPr sz="1200" b="0">
                <a:solidFill>
                  <a:srgbClr val="15232E"/>
                </a:solidFill>
                <a:latin typeface="DejaVu Sans"/>
                <a:ea typeface="DejaVu Sans"/>
                <a:cs typeface="DejaVu Sans"/>
              </a:rPr>
              <a:t>Baja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C1FF49A7-0FA0-469D-B47F-691CACA3D8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0" y="5095875"/>
            <a:ext cx="39052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15232E"/>
                </a:solidFill>
                <a:latin typeface="DejaVu Sans"/>
                <a:ea typeface="DejaVu Sans"/>
                <a:cs typeface="DejaVu Sans"/>
              </a:defRPr>
            </a:pPr>
            <a:r>
              <a:rPr sz="1200" b="0">
                <a:solidFill>
                  <a:srgbClr val="15232E"/>
                </a:solidFill>
                <a:latin typeface="DejaVu Sans"/>
                <a:ea typeface="DejaVu Sans"/>
                <a:cs typeface="DejaVu Sans"/>
              </a:rPr>
              <a:t>Demasiado complejo</a:t>
            </a:r>
          </a:p>
        </p:txBody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636F0F9C-5D29-4907-8AEA-26CABF8FE1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905500"/>
            <a:ext cx="107061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5D6B75"/>
                </a:solidFill>
                <a:latin typeface="DejaVu Sans"/>
                <a:ea typeface="DejaVu Sans"/>
                <a:cs typeface="DejaVu Sans"/>
              </a:defRPr>
            </a:pPr>
            <a:r>
              <a:rPr sz="1050" b="0">
                <a:solidFill>
                  <a:srgbClr val="5D6B75"/>
                </a:solidFill>
                <a:latin typeface="DejaVu Sans"/>
                <a:ea typeface="DejaVu Sans"/>
                <a:cs typeface="DejaVu Sans"/>
              </a:rPr>
              <a:t>Referencia de precios del informe: 24/09/2026. Pueden variar por país, impuestos y promociones.</a:t>
            </a:r>
          </a:p>
        </p:txBody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D35365A1-7274-40AA-BC95-A0219F01BE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77000"/>
            <a:ext cx="6858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3939"/>
          </a:bodyPr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5D6B75"/>
                </a:solidFill>
                <a:latin typeface="DejaVu Sans"/>
                <a:ea typeface="DejaVu Sans"/>
                <a:cs typeface="DejaVu Sans"/>
              </a:defRPr>
            </a:pPr>
            <a:r>
              <a:rPr sz="825" b="0">
                <a:solidFill>
                  <a:srgbClr val="5D6B75"/>
                </a:solidFill>
                <a:latin typeface="DejaVu Sans"/>
                <a:ea typeface="DejaVu Sans"/>
                <a:cs typeface="DejaVu Sans"/>
              </a:rPr>
              <a:t>IoT FENSTER  ·  CRM comercial  ·  Documento de preparación</a:t>
            </a:r>
          </a:p>
        </p:txBody>
      </p:sp>
    </p:spTree>
    <p:extLst>
      <p:ext uri="{BB962C8B-B14F-4D97-AF65-F5344CB8AC3E}">
        <p14:creationId xmlns:p14="http://schemas.microsoft.com/office/powerpoint/2010/main" val="252899973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2A94512A-0576-4560-A010-6CABFF52B5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"/>
            <a:ext cx="102870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475" b="1">
                <a:solidFill>
                  <a:srgbClr val="102A43"/>
                </a:solidFill>
                <a:latin typeface="DejaVu Sans"/>
                <a:ea typeface="DejaVu Sans"/>
                <a:cs typeface="DejaVu Sans"/>
              </a:defRPr>
            </a:pPr>
            <a:r>
              <a:rPr sz="2475" b="1">
                <a:solidFill>
                  <a:srgbClr val="102A43"/>
                </a:solidFill>
                <a:latin typeface="DejaVu Sans"/>
                <a:ea typeface="DejaVu Sans"/>
                <a:cs typeface="DejaVu Sans"/>
              </a:rPr>
              <a:t>Por qué Bigin encaja mejor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007EF3D-8B51-4C7A-A61D-9B01793732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066800"/>
            <a:ext cx="109728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2A6A1"/>
          </a:solidFill>
          <a:ln xmlns:a="http://schemas.openxmlformats.org/drawingml/2006/main" w="0">
            <a:noFill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053BC47-EBFA-4840-8228-F8E20F28B7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68050" y="419100"/>
            <a:ext cx="5143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125" b="1">
                <a:solidFill>
                  <a:srgbClr val="5D6B75"/>
                </a:solidFill>
                <a:latin typeface="DejaVu Sans"/>
                <a:ea typeface="DejaVu Sans"/>
                <a:cs typeface="DejaVu Sans"/>
              </a:defRPr>
            </a:pPr>
            <a:r>
              <a:rPr sz="1125" b="1">
                <a:solidFill>
                  <a:srgbClr val="5D6B75"/>
                </a:solidFill>
                <a:latin typeface="DejaVu Sans"/>
                <a:ea typeface="DejaVu Sans"/>
                <a:cs typeface="DejaVu Sans"/>
              </a:rPr>
              <a:t>04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112E504-6645-4F16-BE1C-CCA34A316D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524000"/>
            <a:ext cx="5143500" cy="1619250"/>
          </a:xfrm>
          <a:prstGeom xmlns:a="http://schemas.openxmlformats.org/drawingml/2006/main" prst="roundRect">
            <a:avLst>
              <a:gd name="adj" fmla="val 4706"/>
            </a:avLst>
          </a:prstGeom>
          <a:solidFill xmlns:a="http://schemas.openxmlformats.org/drawingml/2006/main">
            <a:srgbClr val="102A43"/>
          </a:solidFill>
          <a:ln xmlns:a="http://schemas.openxmlformats.org/drawingml/2006/main" w="0">
            <a:noFill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A33F43D-4125-4B53-9999-98EDCE6DFB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1752600"/>
            <a:ext cx="2095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0196"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22A6A1"/>
                </a:solidFill>
                <a:latin typeface="DejaVu Sans"/>
                <a:ea typeface="DejaVu Sans"/>
                <a:cs typeface="DejaVu Sans"/>
              </a:defRPr>
            </a:pPr>
            <a:r>
              <a:rPr sz="1275" b="1">
                <a:solidFill>
                  <a:srgbClr val="22A6A1"/>
                </a:solidFill>
                <a:latin typeface="DejaVu Sans"/>
                <a:ea typeface="DejaVu Sans"/>
                <a:cs typeface="DejaVu Sans"/>
              </a:rPr>
              <a:t>SENCILLEZ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0F9E17B-D6AA-492B-997E-F141F0BEDC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152650"/>
            <a:ext cx="45720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pPr>
            <a:r>
              <a:rPr sz="1425" b="0">
                <a:solidFill>
                  <a:srgbClr val="FFFFFF"/>
                </a:solidFill>
                <a:latin typeface="DejaVu Sans"/>
                <a:ea typeface="DejaVu Sans"/>
                <a:cs typeface="DejaVu Sans"/>
              </a:rPr>
              <a:t>CRM basado en pipeline sin la complejidad de una solución corporativa.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902F0BC-4D72-4929-A1FE-A2AA14A472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38850" y="1524000"/>
            <a:ext cx="5143500" cy="1619250"/>
          </a:xfrm>
          <a:prstGeom xmlns:a="http://schemas.openxmlformats.org/drawingml/2006/main" prst="roundRect">
            <a:avLst>
              <a:gd name="adj" fmla="val 4706"/>
            </a:avLst>
          </a:prstGeom>
          <a:solidFill xmlns:a="http://schemas.openxmlformats.org/drawingml/2006/main">
            <a:srgbClr val="EFF5F8"/>
          </a:solidFill>
          <a:ln xmlns:a="http://schemas.openxmlformats.org/drawingml/2006/main" w="9525">
            <a:solidFill>
              <a:srgbClr val="CBD8DE"/>
            </a:solidFill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9EDF8C9-0531-4101-A974-10AED4621E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05550" y="1752600"/>
            <a:ext cx="2095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0196"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176B87"/>
                </a:solidFill>
                <a:latin typeface="DejaVu Sans"/>
                <a:ea typeface="DejaVu Sans"/>
                <a:cs typeface="DejaVu Sans"/>
              </a:defRPr>
            </a:pPr>
            <a:r>
              <a:rPr sz="1275" b="1">
                <a:solidFill>
                  <a:srgbClr val="176B87"/>
                </a:solidFill>
                <a:latin typeface="DejaVu Sans"/>
                <a:ea typeface="DejaVu Sans"/>
                <a:cs typeface="DejaVu Sans"/>
              </a:rPr>
              <a:t>MOVILIDAD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70E0603-72A0-459F-BC36-BFA1EB87D2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05550" y="2152650"/>
            <a:ext cx="45720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15232E"/>
                </a:solidFill>
                <a:latin typeface="DejaVu Sans"/>
                <a:ea typeface="DejaVu Sans"/>
                <a:cs typeface="DejaVu Sans"/>
              </a:defRPr>
            </a:pPr>
            <a:r>
              <a:rPr sz="1425" b="0">
                <a:solidFill>
                  <a:srgbClr val="15232E"/>
                </a:solidFill>
                <a:latin typeface="DejaVu Sans"/>
                <a:ea typeface="DejaVu Sans"/>
                <a:cs typeface="DejaVu Sans"/>
              </a:rPr>
              <a:t>Contactos, oportunidades, tareas, llamadas, notas y eventos en iOS y Android.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7514B1E-3D5D-457E-9FE2-5F5258D47F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476625"/>
            <a:ext cx="5143500" cy="1619250"/>
          </a:xfrm>
          <a:prstGeom xmlns:a="http://schemas.openxmlformats.org/drawingml/2006/main" prst="roundRect">
            <a:avLst>
              <a:gd name="adj" fmla="val 4706"/>
            </a:avLst>
          </a:prstGeom>
          <a:solidFill xmlns:a="http://schemas.openxmlformats.org/drawingml/2006/main">
            <a:srgbClr val="EFF5F8"/>
          </a:solidFill>
          <a:ln xmlns:a="http://schemas.openxmlformats.org/drawingml/2006/main" w="9525">
            <a:solidFill>
              <a:srgbClr val="CBD8DE"/>
            </a:solidFill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46CF304-3C91-4F59-8298-561AB90F20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3705225"/>
            <a:ext cx="2095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0196"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176B87"/>
                </a:solidFill>
                <a:latin typeface="DejaVu Sans"/>
                <a:ea typeface="DejaVu Sans"/>
                <a:cs typeface="DejaVu Sans"/>
              </a:defRPr>
            </a:pPr>
            <a:r>
              <a:rPr sz="1275" b="1">
                <a:solidFill>
                  <a:srgbClr val="176B87"/>
                </a:solidFill>
                <a:latin typeface="DejaVu Sans"/>
                <a:ea typeface="DejaVu Sans"/>
                <a:cs typeface="DejaVu Sans"/>
              </a:rPr>
              <a:t>CRECIMIENTO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06686F5E-E013-40EE-93D7-7CEBAA20DA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4105275"/>
            <a:ext cx="45720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15232E"/>
                </a:solidFill>
                <a:latin typeface="DejaVu Sans"/>
                <a:ea typeface="DejaVu Sans"/>
                <a:cs typeface="DejaVu Sans"/>
              </a:defRPr>
            </a:pPr>
            <a:r>
              <a:rPr sz="1425" b="0">
                <a:solidFill>
                  <a:srgbClr val="15232E"/>
                </a:solidFill>
                <a:latin typeface="DejaVu Sans"/>
                <a:ea typeface="DejaVu Sans"/>
                <a:cs typeface="DejaVu Sans"/>
              </a:rPr>
              <a:t>Permite añadir agentes y migrar posteriormente hacia Zoho CRM.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C4CC4BEF-27F0-472D-BBCF-86E0B0BF6D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38850" y="3476625"/>
            <a:ext cx="5143500" cy="1619250"/>
          </a:xfrm>
          <a:prstGeom xmlns:a="http://schemas.openxmlformats.org/drawingml/2006/main" prst="roundRect">
            <a:avLst>
              <a:gd name="adj" fmla="val 4706"/>
            </a:avLst>
          </a:prstGeom>
          <a:solidFill xmlns:a="http://schemas.openxmlformats.org/drawingml/2006/main">
            <a:srgbClr val="EFF5F8"/>
          </a:solidFill>
          <a:ln xmlns:a="http://schemas.openxmlformats.org/drawingml/2006/main" w="9525">
            <a:solidFill>
              <a:srgbClr val="CBD8DE"/>
            </a:solidFill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39D1CEB7-D1AF-4FB5-AFCA-73D41F2BEB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05550" y="3705225"/>
            <a:ext cx="2095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0196"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176B87"/>
                </a:solidFill>
                <a:latin typeface="DejaVu Sans"/>
                <a:ea typeface="DejaVu Sans"/>
                <a:cs typeface="DejaVu Sans"/>
              </a:defRPr>
            </a:pPr>
            <a:r>
              <a:rPr sz="1275" b="1">
                <a:solidFill>
                  <a:srgbClr val="176B87"/>
                </a:solidFill>
                <a:latin typeface="DejaVu Sans"/>
                <a:ea typeface="DejaVu Sans"/>
                <a:cs typeface="DejaVu Sans"/>
              </a:rPr>
              <a:t>COSTE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07237A41-5952-4453-8DD5-B240D60101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05550" y="4105275"/>
            <a:ext cx="45720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15232E"/>
                </a:solidFill>
                <a:latin typeface="DejaVu Sans"/>
                <a:ea typeface="DejaVu Sans"/>
                <a:cs typeface="DejaVu Sans"/>
              </a:defRPr>
            </a:pPr>
            <a:r>
              <a:rPr sz="1425" b="0">
                <a:solidFill>
                  <a:srgbClr val="15232E"/>
                </a:solidFill>
                <a:latin typeface="DejaVu Sans"/>
                <a:ea typeface="DejaVu Sans"/>
                <a:cs typeface="DejaVu Sans"/>
              </a:rPr>
              <a:t>Un usuario puede comenzar con Free y pasar a Express al crecer.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0ECC28F7-BECC-40DE-91D2-E5CFCA86E9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695950"/>
            <a:ext cx="1762125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85417"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F28C28"/>
                </a:solidFill>
                <a:latin typeface="DejaVu Sans"/>
                <a:ea typeface="DejaVu Sans"/>
                <a:cs typeface="DejaVu Sans"/>
              </a:defRPr>
            </a:pPr>
            <a:r>
              <a:rPr sz="1200" b="1">
                <a:solidFill>
                  <a:srgbClr val="F28C28"/>
                </a:solidFill>
                <a:latin typeface="DejaVu Sans"/>
                <a:ea typeface="DejaVu Sans"/>
                <a:cs typeface="DejaVu Sans"/>
              </a:rPr>
              <a:t>Elección práctica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09B87FA8-6E72-4DA0-A823-DD4D98D494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28875" y="5619750"/>
            <a:ext cx="8572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75547"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5232E"/>
                </a:solidFill>
                <a:latin typeface="DejaVu Sans"/>
                <a:ea typeface="DejaVu Sans"/>
                <a:cs typeface="DejaVu Sans"/>
              </a:defRPr>
            </a:pPr>
            <a:r>
              <a:rPr sz="1500" b="1">
                <a:solidFill>
                  <a:srgbClr val="15232E"/>
                </a:solidFill>
                <a:latin typeface="DejaVu Sans"/>
                <a:ea typeface="DejaVu Sans"/>
                <a:cs typeface="DejaVu Sans"/>
              </a:rPr>
              <a:t>La facilidad de adopción pesa más que disponer desde el inicio de funciones que el equipo no utilizará.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D249CAB0-05CE-47BC-ACDF-4E8755452C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77000"/>
            <a:ext cx="6858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3939"/>
          </a:bodyPr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5D6B75"/>
                </a:solidFill>
                <a:latin typeface="DejaVu Sans"/>
                <a:ea typeface="DejaVu Sans"/>
                <a:cs typeface="DejaVu Sans"/>
              </a:defRPr>
            </a:pPr>
            <a:r>
              <a:rPr sz="825" b="0">
                <a:solidFill>
                  <a:srgbClr val="5D6B75"/>
                </a:solidFill>
                <a:latin typeface="DejaVu Sans"/>
                <a:ea typeface="DejaVu Sans"/>
                <a:cs typeface="DejaVu Sans"/>
              </a:rPr>
              <a:t>IoT FENSTER  ·  CRM comercial  ·  Documento de preparación</a:t>
            </a:r>
          </a:p>
        </p:txBody>
      </p:sp>
    </p:spTree>
    <p:extLst>
      <p:ext uri="{BB962C8B-B14F-4D97-AF65-F5344CB8AC3E}">
        <p14:creationId xmlns:p14="http://schemas.microsoft.com/office/powerpoint/2010/main" val="446882980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B70B724F-0669-4EE1-9C80-2AD9201825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"/>
            <a:ext cx="102870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475" b="1">
                <a:solidFill>
                  <a:srgbClr val="102A43"/>
                </a:solidFill>
                <a:latin typeface="DejaVu Sans"/>
                <a:ea typeface="DejaVu Sans"/>
                <a:cs typeface="DejaVu Sans"/>
              </a:defRPr>
            </a:pPr>
            <a:r>
              <a:rPr sz="2475" b="1">
                <a:solidFill>
                  <a:srgbClr val="102A43"/>
                </a:solidFill>
                <a:latin typeface="DejaVu Sans"/>
                <a:ea typeface="DejaVu Sans"/>
                <a:cs typeface="DejaVu Sans"/>
              </a:rPr>
              <a:t>Pipeline comercial europeo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B346E10-A8E4-4803-9DFA-3EDAF6C4E1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066800"/>
            <a:ext cx="109728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2A6A1"/>
          </a:solidFill>
          <a:ln xmlns:a="http://schemas.openxmlformats.org/drawingml/2006/main" w="0">
            <a:noFill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BF57356-F0C7-4CF7-AE01-40D5478E7D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68050" y="419100"/>
            <a:ext cx="5143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125" b="1">
                <a:solidFill>
                  <a:srgbClr val="5D6B75"/>
                </a:solidFill>
                <a:latin typeface="DejaVu Sans"/>
                <a:ea typeface="DejaVu Sans"/>
                <a:cs typeface="DejaVu Sans"/>
              </a:defRPr>
            </a:pPr>
            <a:r>
              <a:rPr sz="1125" b="1">
                <a:solidFill>
                  <a:srgbClr val="5D6B75"/>
                </a:solidFill>
                <a:latin typeface="DejaVu Sans"/>
                <a:ea typeface="DejaVu Sans"/>
                <a:cs typeface="DejaVu Sans"/>
              </a:rPr>
              <a:t>05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CA94BE5-39E6-4664-AE07-E043666882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524000"/>
            <a:ext cx="1809750" cy="1000125"/>
          </a:xfrm>
          <a:prstGeom xmlns:a="http://schemas.openxmlformats.org/drawingml/2006/main" prst="roundRect">
            <a:avLst>
              <a:gd name="adj" fmla="val 7619"/>
            </a:avLst>
          </a:prstGeom>
          <a:solidFill xmlns:a="http://schemas.openxmlformats.org/drawingml/2006/main">
            <a:srgbClr val="102A43"/>
          </a:solidFill>
          <a:ln xmlns:a="http://schemas.openxmlformats.org/drawingml/2006/main" w="0">
            <a:noFill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9245B4A-3A84-4E99-986C-DD63084246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1638300"/>
            <a:ext cx="3048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2308"/>
          </a:bodyPr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BBD0D9"/>
                </a:solidFill>
                <a:latin typeface="DejaVu Sans"/>
                <a:ea typeface="DejaVu Sans"/>
                <a:cs typeface="DejaVu Sans"/>
              </a:defRPr>
            </a:pPr>
            <a:r>
              <a:rPr sz="975" b="1">
                <a:solidFill>
                  <a:srgbClr val="BBD0D9"/>
                </a:solidFill>
                <a:latin typeface="DejaVu Sans"/>
                <a:ea typeface="DejaVu Sans"/>
                <a:cs typeface="DejaVu Sans"/>
              </a:rPr>
              <a:t>1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81846D0-A20F-4D50-9E61-556861A757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924050"/>
            <a:ext cx="15049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pPr>
            <a:r>
              <a:rPr sz="1125" b="1">
                <a:solidFill>
                  <a:srgbClr val="FFFFFF"/>
                </a:solidFill>
                <a:latin typeface="DejaVu Sans"/>
                <a:ea typeface="DejaVu Sans"/>
                <a:cs typeface="DejaVu Sans"/>
              </a:rPr>
              <a:t>NUEVO LEAD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F08011B-3579-41F3-8DAB-ED0B203195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81300" y="1524000"/>
            <a:ext cx="1809750" cy="1000125"/>
          </a:xfrm>
          <a:prstGeom xmlns:a="http://schemas.openxmlformats.org/drawingml/2006/main" prst="roundRect">
            <a:avLst>
              <a:gd name="adj" fmla="val 7619"/>
            </a:avLst>
          </a:prstGeom>
          <a:solidFill xmlns:a="http://schemas.openxmlformats.org/drawingml/2006/main">
            <a:srgbClr val="102A43"/>
          </a:solidFill>
          <a:ln xmlns:a="http://schemas.openxmlformats.org/drawingml/2006/main" w="0">
            <a:noFill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9EA164B-BDE1-44A6-B0CD-6C4EAB0209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14650" y="1638300"/>
            <a:ext cx="3048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2308"/>
          </a:bodyPr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BBD0D9"/>
                </a:solidFill>
                <a:latin typeface="DejaVu Sans"/>
                <a:ea typeface="DejaVu Sans"/>
                <a:cs typeface="DejaVu Sans"/>
              </a:defRPr>
            </a:pPr>
            <a:r>
              <a:rPr sz="975" b="1">
                <a:solidFill>
                  <a:srgbClr val="BBD0D9"/>
                </a:solidFill>
                <a:latin typeface="DejaVu Sans"/>
                <a:ea typeface="DejaVu Sans"/>
                <a:cs typeface="DejaVu Sans"/>
              </a:rPr>
              <a:t>2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237D049-E92E-4853-9A12-B0578753A1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33700" y="1924050"/>
            <a:ext cx="15049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pPr>
            <a:r>
              <a:rPr sz="1125" b="1">
                <a:solidFill>
                  <a:srgbClr val="FFFFFF"/>
                </a:solidFill>
                <a:latin typeface="DejaVu Sans"/>
                <a:ea typeface="DejaVu Sans"/>
                <a:cs typeface="DejaVu Sans"/>
              </a:rPr>
              <a:t>CONTACTADO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F2F7AE0-98B9-4F72-8C25-F242B94112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1524000"/>
            <a:ext cx="1809750" cy="1000125"/>
          </a:xfrm>
          <a:prstGeom xmlns:a="http://schemas.openxmlformats.org/drawingml/2006/main" prst="roundRect">
            <a:avLst>
              <a:gd name="adj" fmla="val 7619"/>
            </a:avLst>
          </a:prstGeom>
          <a:solidFill xmlns:a="http://schemas.openxmlformats.org/drawingml/2006/main">
            <a:srgbClr val="102A43"/>
          </a:solidFill>
          <a:ln xmlns:a="http://schemas.openxmlformats.org/drawingml/2006/main" w="0">
            <a:noFill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8474C9CC-9387-4E94-A053-06FBB032A1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86350" y="1638300"/>
            <a:ext cx="3048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2308"/>
          </a:bodyPr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BBD0D9"/>
                </a:solidFill>
                <a:latin typeface="DejaVu Sans"/>
                <a:ea typeface="DejaVu Sans"/>
                <a:cs typeface="DejaVu Sans"/>
              </a:defRPr>
            </a:pPr>
            <a:r>
              <a:rPr sz="975" b="1">
                <a:solidFill>
                  <a:srgbClr val="BBD0D9"/>
                </a:solidFill>
                <a:latin typeface="DejaVu Sans"/>
                <a:ea typeface="DejaVu Sans"/>
                <a:cs typeface="DejaVu Sans"/>
              </a:rPr>
              <a:t>3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5072996C-7E64-4FA4-9BD8-53B25F4F01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05400" y="1924050"/>
            <a:ext cx="15049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pPr>
            <a:r>
              <a:rPr sz="1125" b="1">
                <a:solidFill>
                  <a:srgbClr val="FFFFFF"/>
                </a:solidFill>
                <a:latin typeface="DejaVu Sans"/>
                <a:ea typeface="DejaVu Sans"/>
                <a:cs typeface="DejaVu Sans"/>
              </a:rPr>
              <a:t>INTERÉS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46233C2B-B556-45C2-9AF3-E62A987DEA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24700" y="1524000"/>
            <a:ext cx="1809750" cy="1000125"/>
          </a:xfrm>
          <a:prstGeom xmlns:a="http://schemas.openxmlformats.org/drawingml/2006/main" prst="roundRect">
            <a:avLst>
              <a:gd name="adj" fmla="val 7619"/>
            </a:avLst>
          </a:prstGeom>
          <a:solidFill xmlns:a="http://schemas.openxmlformats.org/drawingml/2006/main">
            <a:srgbClr val="102A43"/>
          </a:solidFill>
          <a:ln xmlns:a="http://schemas.openxmlformats.org/drawingml/2006/main" w="0">
            <a:noFill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41A9E2DA-487D-4F36-AF56-3429B432B2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58050" y="1638300"/>
            <a:ext cx="3048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2308"/>
          </a:bodyPr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BBD0D9"/>
                </a:solidFill>
                <a:latin typeface="DejaVu Sans"/>
                <a:ea typeface="DejaVu Sans"/>
                <a:cs typeface="DejaVu Sans"/>
              </a:defRPr>
            </a:pPr>
            <a:r>
              <a:rPr sz="975" b="1">
                <a:solidFill>
                  <a:srgbClr val="BBD0D9"/>
                </a:solidFill>
                <a:latin typeface="DejaVu Sans"/>
                <a:ea typeface="DejaVu Sans"/>
                <a:cs typeface="DejaVu Sans"/>
              </a:rPr>
              <a:t>4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8D8C0DA2-0585-4B2C-BC65-5BD6DF71B9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77100" y="1924050"/>
            <a:ext cx="15049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6670"/>
          </a:bodyPr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pPr>
            <a:r>
              <a:rPr sz="1125" b="1">
                <a:solidFill>
                  <a:srgbClr val="FFFFFF"/>
                </a:solidFill>
                <a:latin typeface="DejaVu Sans"/>
                <a:ea typeface="DejaVu Sans"/>
                <a:cs typeface="DejaVu Sans"/>
              </a:rPr>
              <a:t>REUNIÓN / DEMO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9F3A70FA-0DDE-4239-A968-191EEFD45F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6400" y="1524000"/>
            <a:ext cx="1809750" cy="1000125"/>
          </a:xfrm>
          <a:prstGeom xmlns:a="http://schemas.openxmlformats.org/drawingml/2006/main" prst="roundRect">
            <a:avLst>
              <a:gd name="adj" fmla="val 7619"/>
            </a:avLst>
          </a:prstGeom>
          <a:solidFill xmlns:a="http://schemas.openxmlformats.org/drawingml/2006/main">
            <a:srgbClr val="F28C28"/>
          </a:solidFill>
          <a:ln xmlns:a="http://schemas.openxmlformats.org/drawingml/2006/main" w="0">
            <a:noFill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51847A27-9539-4F41-AFA7-0D5C5D890D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29750" y="1638300"/>
            <a:ext cx="3048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2308"/>
          </a:bodyPr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BBD0D9"/>
                </a:solidFill>
                <a:latin typeface="DejaVu Sans"/>
                <a:ea typeface="DejaVu Sans"/>
                <a:cs typeface="DejaVu Sans"/>
              </a:defRPr>
            </a:pPr>
            <a:r>
              <a:rPr sz="975" b="1">
                <a:solidFill>
                  <a:srgbClr val="BBD0D9"/>
                </a:solidFill>
                <a:latin typeface="DejaVu Sans"/>
                <a:ea typeface="DejaVu Sans"/>
                <a:cs typeface="DejaVu Sans"/>
              </a:rPr>
              <a:t>5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A4C71C74-D3E5-4263-9426-1358EE7C6D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48800" y="1924050"/>
            <a:ext cx="15049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5556"/>
          </a:bodyPr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pPr>
            <a:r>
              <a:rPr sz="1125" b="1">
                <a:solidFill>
                  <a:srgbClr val="FFFFFF"/>
                </a:solidFill>
                <a:latin typeface="DejaVu Sans"/>
                <a:ea typeface="DejaVu Sans"/>
                <a:cs typeface="DejaVu Sans"/>
              </a:rPr>
              <a:t>MUESTRA ENVIADA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B3723A05-CDBD-4525-A520-E5D1CF3D7E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952750"/>
            <a:ext cx="1809750" cy="1000125"/>
          </a:xfrm>
          <a:prstGeom xmlns:a="http://schemas.openxmlformats.org/drawingml/2006/main" prst="roundRect">
            <a:avLst>
              <a:gd name="adj" fmla="val 7619"/>
            </a:avLst>
          </a:prstGeom>
          <a:solidFill xmlns:a="http://schemas.openxmlformats.org/drawingml/2006/main">
            <a:srgbClr val="102A43"/>
          </a:solidFill>
          <a:ln xmlns:a="http://schemas.openxmlformats.org/drawingml/2006/main" w="0">
            <a:noFill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06A7640B-7359-4D8D-9D8E-F64ACB1EB3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067050"/>
            <a:ext cx="3048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2308"/>
          </a:bodyPr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BBD0D9"/>
                </a:solidFill>
                <a:latin typeface="DejaVu Sans"/>
                <a:ea typeface="DejaVu Sans"/>
                <a:cs typeface="DejaVu Sans"/>
              </a:defRPr>
            </a:pPr>
            <a:r>
              <a:rPr sz="975" b="1">
                <a:solidFill>
                  <a:srgbClr val="BBD0D9"/>
                </a:solidFill>
                <a:latin typeface="DejaVu Sans"/>
                <a:ea typeface="DejaVu Sans"/>
                <a:cs typeface="DejaVu Sans"/>
              </a:rPr>
              <a:t>6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CA5D37E7-8BE8-4F46-8CAD-F4D7D2FC92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352800"/>
            <a:ext cx="15049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5556"/>
          </a:bodyPr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pPr>
            <a:r>
              <a:rPr sz="1125" b="1">
                <a:solidFill>
                  <a:srgbClr val="FFFFFF"/>
                </a:solidFill>
                <a:latin typeface="DejaVu Sans"/>
                <a:ea typeface="DejaVu Sans"/>
                <a:cs typeface="DejaVu Sans"/>
              </a:rPr>
              <a:t>PRUEBA / VALIDACIÓN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39486F3B-37FC-49F5-9AE4-F878C3ADDC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81300" y="2952750"/>
            <a:ext cx="1809750" cy="1000125"/>
          </a:xfrm>
          <a:prstGeom xmlns:a="http://schemas.openxmlformats.org/drawingml/2006/main" prst="roundRect">
            <a:avLst>
              <a:gd name="adj" fmla="val 7619"/>
            </a:avLst>
          </a:prstGeom>
          <a:solidFill xmlns:a="http://schemas.openxmlformats.org/drawingml/2006/main">
            <a:srgbClr val="102A43"/>
          </a:solidFill>
          <a:ln xmlns:a="http://schemas.openxmlformats.org/drawingml/2006/main" w="0">
            <a:noFill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0832C079-3EE0-499E-99EF-76909D45D6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14650" y="3067050"/>
            <a:ext cx="3048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2308"/>
          </a:bodyPr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BBD0D9"/>
                </a:solidFill>
                <a:latin typeface="DejaVu Sans"/>
                <a:ea typeface="DejaVu Sans"/>
                <a:cs typeface="DejaVu Sans"/>
              </a:defRPr>
            </a:pPr>
            <a:r>
              <a:rPr sz="975" b="1">
                <a:solidFill>
                  <a:srgbClr val="BBD0D9"/>
                </a:solidFill>
                <a:latin typeface="DejaVu Sans"/>
                <a:ea typeface="DejaVu Sans"/>
                <a:cs typeface="DejaVu Sans"/>
              </a:rPr>
              <a:t>7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D96DFEB5-B383-4BC4-AA1E-7033AF67D0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33700" y="3352800"/>
            <a:ext cx="15049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pPr>
            <a:r>
              <a:rPr sz="1125" b="1">
                <a:solidFill>
                  <a:srgbClr val="FFFFFF"/>
                </a:solidFill>
                <a:latin typeface="DejaVu Sans"/>
                <a:ea typeface="DejaVu Sans"/>
                <a:cs typeface="DejaVu Sans"/>
              </a:rPr>
              <a:t>OFERTA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A6F278C5-A32D-4499-A0A1-271FEE1775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2952750"/>
            <a:ext cx="1809750" cy="1000125"/>
          </a:xfrm>
          <a:prstGeom xmlns:a="http://schemas.openxmlformats.org/drawingml/2006/main" prst="roundRect">
            <a:avLst>
              <a:gd name="adj" fmla="val 7619"/>
            </a:avLst>
          </a:prstGeom>
          <a:solidFill xmlns:a="http://schemas.openxmlformats.org/drawingml/2006/main">
            <a:srgbClr val="102A43"/>
          </a:solidFill>
          <a:ln xmlns:a="http://schemas.openxmlformats.org/drawingml/2006/main" w="0">
            <a:noFill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F05CC57F-616D-4DBA-B264-DD16806422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86350" y="3067050"/>
            <a:ext cx="3048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2308"/>
          </a:bodyPr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BBD0D9"/>
                </a:solidFill>
                <a:latin typeface="DejaVu Sans"/>
                <a:ea typeface="DejaVu Sans"/>
                <a:cs typeface="DejaVu Sans"/>
              </a:defRPr>
            </a:pPr>
            <a:r>
              <a:rPr sz="975" b="1">
                <a:solidFill>
                  <a:srgbClr val="BBD0D9"/>
                </a:solidFill>
                <a:latin typeface="DejaVu Sans"/>
                <a:ea typeface="DejaVu Sans"/>
                <a:cs typeface="DejaVu Sans"/>
              </a:rPr>
              <a:t>8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578F6404-1968-4A51-BF8B-D2B2D73206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05400" y="3352800"/>
            <a:ext cx="15049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pPr>
            <a:r>
              <a:rPr sz="1125" b="1">
                <a:solidFill>
                  <a:srgbClr val="FFFFFF"/>
                </a:solidFill>
                <a:latin typeface="DejaVu Sans"/>
                <a:ea typeface="DejaVu Sans"/>
                <a:cs typeface="DejaVu Sans"/>
              </a:rPr>
              <a:t>NEGOCIACIÓN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FA903DE3-0026-4072-A06F-B7AE61A962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24700" y="2952750"/>
            <a:ext cx="1809750" cy="1000125"/>
          </a:xfrm>
          <a:prstGeom xmlns:a="http://schemas.openxmlformats.org/drawingml/2006/main" prst="roundRect">
            <a:avLst>
              <a:gd name="adj" fmla="val 7619"/>
            </a:avLst>
          </a:prstGeom>
          <a:solidFill xmlns:a="http://schemas.openxmlformats.org/drawingml/2006/main">
            <a:srgbClr val="26866A"/>
          </a:solidFill>
          <a:ln xmlns:a="http://schemas.openxmlformats.org/drawingml/2006/main" w="0">
            <a:noFill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12D1EBCA-B352-4959-A392-1EF15E592B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58050" y="3067050"/>
            <a:ext cx="3048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2308"/>
          </a:bodyPr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BBD0D9"/>
                </a:solidFill>
                <a:latin typeface="DejaVu Sans"/>
                <a:ea typeface="DejaVu Sans"/>
                <a:cs typeface="DejaVu Sans"/>
              </a:defRPr>
            </a:pPr>
            <a:r>
              <a:rPr sz="975" b="1">
                <a:solidFill>
                  <a:srgbClr val="BBD0D9"/>
                </a:solidFill>
                <a:latin typeface="DejaVu Sans"/>
                <a:ea typeface="DejaVu Sans"/>
                <a:cs typeface="DejaVu Sans"/>
              </a:rPr>
              <a:t>9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AFA428CD-2174-4C53-9805-410DD0D546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77100" y="3352800"/>
            <a:ext cx="15049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pPr>
            <a:r>
              <a:rPr sz="1125" b="1">
                <a:solidFill>
                  <a:srgbClr val="FFFFFF"/>
                </a:solidFill>
                <a:latin typeface="DejaVu Sans"/>
                <a:ea typeface="DejaVu Sans"/>
                <a:cs typeface="DejaVu Sans"/>
              </a:rPr>
              <a:t>GANADO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2CD05A63-C7C6-4A6E-B1D7-9F0F29DC7F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495800"/>
            <a:ext cx="10706100" cy="1066800"/>
          </a:xfrm>
          <a:prstGeom xmlns:a="http://schemas.openxmlformats.org/drawingml/2006/main" prst="roundRect">
            <a:avLst>
              <a:gd name="adj" fmla="val 7143"/>
            </a:avLst>
          </a:prstGeom>
          <a:solidFill xmlns:a="http://schemas.openxmlformats.org/drawingml/2006/main">
            <a:srgbClr val="DFF4F3"/>
          </a:solidFill>
          <a:ln xmlns:a="http://schemas.openxmlformats.org/drawingml/2006/main" w="0">
            <a:noFill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CC8CD8F5-7857-42FB-886C-92F78CB3B6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4667250"/>
            <a:ext cx="2095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0196"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176B87"/>
                </a:solidFill>
                <a:latin typeface="DejaVu Sans"/>
                <a:ea typeface="DejaVu Sans"/>
                <a:cs typeface="DejaVu Sans"/>
              </a:defRPr>
            </a:pPr>
            <a:r>
              <a:rPr sz="1275" b="1">
                <a:solidFill>
                  <a:srgbClr val="176B87"/>
                </a:solidFill>
                <a:latin typeface="DejaVu Sans"/>
                <a:ea typeface="DejaVu Sans"/>
                <a:cs typeface="DejaVu Sans"/>
              </a:rPr>
              <a:t>Salidas alternativas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C9D8EB87-FB8C-4A1C-B7BD-0568877722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90875" y="4657725"/>
            <a:ext cx="1714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4444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B54848"/>
                </a:solidFill>
                <a:latin typeface="DejaVu Sans"/>
                <a:ea typeface="DejaVu Sans"/>
                <a:cs typeface="DejaVu Sans"/>
              </a:defRPr>
            </a:pPr>
            <a:r>
              <a:rPr sz="1350" b="1">
                <a:solidFill>
                  <a:srgbClr val="B54848"/>
                </a:solidFill>
                <a:latin typeface="DejaVu Sans"/>
                <a:ea typeface="DejaVu Sans"/>
                <a:cs typeface="DejaVu Sans"/>
              </a:rPr>
              <a:t>PERDIDO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3419482B-FBFB-4CEB-A88E-4828A2FC64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0" y="4657725"/>
            <a:ext cx="2857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4444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F28C28"/>
                </a:solidFill>
                <a:latin typeface="DejaVu Sans"/>
                <a:ea typeface="DejaVu Sans"/>
                <a:cs typeface="DejaVu Sans"/>
              </a:defRPr>
            </a:pPr>
            <a:r>
              <a:rPr sz="1350" b="1">
                <a:solidFill>
                  <a:srgbClr val="F28C28"/>
                </a:solidFill>
                <a:latin typeface="DejaVu Sans"/>
                <a:ea typeface="DejaVu Sans"/>
                <a:cs typeface="DejaVu Sans"/>
              </a:rPr>
              <a:t>SEGUIMIENTO FUTURO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EC5BA8B3-C819-424B-B7C5-7E910B6577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5095875"/>
            <a:ext cx="9906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5232E"/>
                </a:solidFill>
                <a:latin typeface="DejaVu Sans"/>
                <a:ea typeface="DejaVu Sans"/>
                <a:cs typeface="DejaVu Sans"/>
              </a:defRPr>
            </a:pPr>
            <a:r>
              <a:rPr sz="1350" b="0">
                <a:solidFill>
                  <a:srgbClr val="15232E"/>
                </a:solidFill>
                <a:latin typeface="DejaVu Sans"/>
                <a:ea typeface="DejaVu Sans"/>
                <a:cs typeface="DejaVu Sans"/>
              </a:rPr>
              <a:t>Un único embudo refleja el ciclo real: contacto, reunión, muestra, prueba, oferta y negociación.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103FDD56-9A4E-43F3-BC07-FBAFB30C52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77000"/>
            <a:ext cx="6858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3939"/>
          </a:bodyPr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5D6B75"/>
                </a:solidFill>
                <a:latin typeface="DejaVu Sans"/>
                <a:ea typeface="DejaVu Sans"/>
                <a:cs typeface="DejaVu Sans"/>
              </a:defRPr>
            </a:pPr>
            <a:r>
              <a:rPr sz="825" b="0">
                <a:solidFill>
                  <a:srgbClr val="5D6B75"/>
                </a:solidFill>
                <a:latin typeface="DejaVu Sans"/>
                <a:ea typeface="DejaVu Sans"/>
                <a:cs typeface="DejaVu Sans"/>
              </a:rPr>
              <a:t>IoT FENSTER  ·  CRM comercial  ·  Documento de preparación</a:t>
            </a:r>
          </a:p>
        </p:txBody>
      </p:sp>
    </p:spTree>
    <p:extLst>
      <p:ext uri="{BB962C8B-B14F-4D97-AF65-F5344CB8AC3E}">
        <p14:creationId xmlns:p14="http://schemas.microsoft.com/office/powerpoint/2010/main" val="76853026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FF807DE7-9470-42EB-BEB0-4076BE6C5A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"/>
            <a:ext cx="102870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475" b="1">
                <a:solidFill>
                  <a:srgbClr val="102A43"/>
                </a:solidFill>
                <a:latin typeface="DejaVu Sans"/>
                <a:ea typeface="DejaVu Sans"/>
                <a:cs typeface="DejaVu Sans"/>
              </a:defRPr>
            </a:pPr>
            <a:r>
              <a:rPr sz="2475" b="1">
                <a:solidFill>
                  <a:srgbClr val="102A43"/>
                </a:solidFill>
                <a:latin typeface="DejaVu Sans"/>
                <a:ea typeface="DejaVu Sans"/>
                <a:cs typeface="DejaVu Sans"/>
              </a:rPr>
              <a:t>Información mínima de cada oportunidad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611D34F-D941-424E-A4D2-6DA0878437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066800"/>
            <a:ext cx="109728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2A6A1"/>
          </a:solidFill>
          <a:ln xmlns:a="http://schemas.openxmlformats.org/drawingml/2006/main" w="0">
            <a:noFill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A20DD2D-0CCE-48AB-9760-4FDF7B3003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68050" y="419100"/>
            <a:ext cx="5143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125" b="1">
                <a:solidFill>
                  <a:srgbClr val="5D6B75"/>
                </a:solidFill>
                <a:latin typeface="DejaVu Sans"/>
                <a:ea typeface="DejaVu Sans"/>
                <a:cs typeface="DejaVu Sans"/>
              </a:defRPr>
            </a:pPr>
            <a:r>
              <a:rPr sz="1125" b="1">
                <a:solidFill>
                  <a:srgbClr val="5D6B75"/>
                </a:solidFill>
                <a:latin typeface="DejaVu Sans"/>
                <a:ea typeface="DejaVu Sans"/>
                <a:cs typeface="DejaVu Sans"/>
              </a:rPr>
              <a:t>06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3AD5B96-1A81-4789-BD2D-AF718F6869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428750"/>
            <a:ext cx="5143500" cy="4000500"/>
          </a:xfrm>
          <a:prstGeom xmlns:a="http://schemas.openxmlformats.org/drawingml/2006/main" prst="roundRect">
            <a:avLst>
              <a:gd name="adj" fmla="val 1905"/>
            </a:avLst>
          </a:prstGeom>
          <a:solidFill xmlns:a="http://schemas.openxmlformats.org/drawingml/2006/main">
            <a:srgbClr val="102A43"/>
          </a:solidFill>
          <a:ln xmlns:a="http://schemas.openxmlformats.org/drawingml/2006/main" w="0">
            <a:noFill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8275ACE-9581-4FB4-97A1-9A399C4019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1714500"/>
            <a:ext cx="4191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89474"/>
          </a:bodyPr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22A6A1"/>
                </a:solidFill>
                <a:latin typeface="DejaVu Sans"/>
                <a:ea typeface="DejaVu Sans"/>
                <a:cs typeface="DejaVu Sans"/>
              </a:defRPr>
            </a:pPr>
            <a:r>
              <a:rPr sz="1425" b="1">
                <a:solidFill>
                  <a:srgbClr val="22A6A1"/>
                </a:solidFill>
                <a:latin typeface="DejaVu Sans"/>
                <a:ea typeface="DejaVu Sans"/>
                <a:cs typeface="DejaVu Sans"/>
              </a:rPr>
              <a:t>CONTEXTO COMERCIAL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83A4276-C342-4CA1-9F1E-EFD1B2B096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2314575"/>
            <a:ext cx="95250" cy="952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22A6A1"/>
          </a:solidFill>
          <a:ln xmlns:a="http://schemas.openxmlformats.org/drawingml/2006/main" w="0">
            <a:noFill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CC9E919-57D8-4CF9-B8D8-96D0E6BB62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2190750"/>
            <a:ext cx="40576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pPr>
            <a:r>
              <a:rPr sz="1350" b="0">
                <a:solidFill>
                  <a:srgbClr val="FFFFFF"/>
                </a:solidFill>
                <a:latin typeface="DejaVu Sans"/>
                <a:ea typeface="DejaVu Sans"/>
                <a:cs typeface="DejaVu Sans"/>
              </a:rPr>
              <a:t>Empresa y país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495C4CF-5772-47B0-AA60-4860B10174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2800350"/>
            <a:ext cx="95250" cy="952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22A6A1"/>
          </a:solidFill>
          <a:ln xmlns:a="http://schemas.openxmlformats.org/drawingml/2006/main" w="0">
            <a:noFill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22D74E0-CED7-448B-A775-386F24AC34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2676525"/>
            <a:ext cx="40576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pPr>
            <a:r>
              <a:rPr sz="1350" b="0">
                <a:solidFill>
                  <a:srgbClr val="FFFFFF"/>
                </a:solidFill>
                <a:latin typeface="DejaVu Sans"/>
                <a:ea typeface="DejaVu Sans"/>
                <a:cs typeface="DejaVu Sans"/>
              </a:rPr>
              <a:t>Contacto y tipo de cuenta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A1E5991-E2AA-4012-8D91-89F7E92F82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3286125"/>
            <a:ext cx="95250" cy="952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22A6A1"/>
          </a:solidFill>
          <a:ln xmlns:a="http://schemas.openxmlformats.org/drawingml/2006/main" w="0">
            <a:noFill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DCB7E9D4-0F67-4A33-AE6D-515940EBE3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3162300"/>
            <a:ext cx="40576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pPr>
            <a:r>
              <a:rPr sz="1350" b="0">
                <a:solidFill>
                  <a:srgbClr val="FFFFFF"/>
                </a:solidFill>
                <a:latin typeface="DejaVu Sans"/>
                <a:ea typeface="DejaVu Sans"/>
                <a:cs typeface="DejaVu Sans"/>
              </a:rPr>
              <a:t>Comercial responsable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C861398D-CF5C-45FA-9872-C61987B8BF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3771900"/>
            <a:ext cx="95250" cy="952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22A6A1"/>
          </a:solidFill>
          <a:ln xmlns:a="http://schemas.openxmlformats.org/drawingml/2006/main" w="0">
            <a:noFill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AD714A9C-9EE1-4DFB-AF8F-378C07D600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3648075"/>
            <a:ext cx="40576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pPr>
            <a:r>
              <a:rPr sz="1350" b="0">
                <a:solidFill>
                  <a:srgbClr val="FFFFFF"/>
                </a:solidFill>
                <a:latin typeface="DejaVu Sans"/>
                <a:ea typeface="DejaVu Sans"/>
                <a:cs typeface="DejaVu Sans"/>
              </a:rPr>
              <a:t>Producto de interés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896C2AD2-3CB7-4ADE-A144-A55B2EA7A4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4257675"/>
            <a:ext cx="95250" cy="952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22A6A1"/>
          </a:solidFill>
          <a:ln xmlns:a="http://schemas.openxmlformats.org/drawingml/2006/main" w="0">
            <a:noFill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1A2A82D1-9162-4884-838C-88A7826EC2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4133850"/>
            <a:ext cx="40576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pPr>
            <a:r>
              <a:rPr sz="1350" b="0">
                <a:solidFill>
                  <a:srgbClr val="FFFFFF"/>
                </a:solidFill>
                <a:latin typeface="DejaVu Sans"/>
                <a:ea typeface="DejaVu Sans"/>
                <a:cs typeface="DejaVu Sans"/>
              </a:rPr>
              <a:t>Unidades potenciales al año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84E7D9DD-096B-4930-BE7D-2F019E1EF4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4743450"/>
            <a:ext cx="95250" cy="952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22A6A1"/>
          </a:solidFill>
          <a:ln xmlns:a="http://schemas.openxmlformats.org/drawingml/2006/main" w="0">
            <a:noFill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62827DB8-DB86-4334-9D1A-F475536619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4619625"/>
            <a:ext cx="40576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pPr>
            <a:r>
              <a:rPr sz="1350" b="0">
                <a:solidFill>
                  <a:srgbClr val="FFFFFF"/>
                </a:solidFill>
                <a:latin typeface="DejaVu Sans"/>
                <a:ea typeface="DejaVu Sans"/>
                <a:cs typeface="DejaVu Sans"/>
              </a:rPr>
              <a:t>Potencial económico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16AE6D26-F5E6-4FA1-87A5-289BA14A4D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00750" y="1428750"/>
            <a:ext cx="5314950" cy="4000500"/>
          </a:xfrm>
          <a:prstGeom xmlns:a="http://schemas.openxmlformats.org/drawingml/2006/main" prst="roundRect">
            <a:avLst>
              <a:gd name="adj" fmla="val 1905"/>
            </a:avLst>
          </a:prstGeom>
          <a:solidFill xmlns:a="http://schemas.openxmlformats.org/drawingml/2006/main">
            <a:srgbClr val="EFF5F8"/>
          </a:solidFill>
          <a:ln xmlns:a="http://schemas.openxmlformats.org/drawingml/2006/main" w="9525">
            <a:solidFill>
              <a:srgbClr val="CBD8DE"/>
            </a:solidFill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369A0E2B-DFAB-4F78-9A78-428447F16D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1714500"/>
            <a:ext cx="4476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89474"/>
          </a:bodyPr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176B87"/>
                </a:solidFill>
                <a:latin typeface="DejaVu Sans"/>
                <a:ea typeface="DejaVu Sans"/>
                <a:cs typeface="DejaVu Sans"/>
              </a:defRPr>
            </a:pPr>
            <a:r>
              <a:rPr sz="1425" b="1">
                <a:solidFill>
                  <a:srgbClr val="176B87"/>
                </a:solidFill>
                <a:latin typeface="DejaVu Sans"/>
                <a:ea typeface="DejaVu Sans"/>
                <a:cs typeface="DejaVu Sans"/>
              </a:rPr>
              <a:t>SEGUIMIENTO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7344F528-C318-4CB9-944B-11F04A8C87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2314575"/>
            <a:ext cx="95250" cy="952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22A6A1"/>
          </a:solidFill>
          <a:ln xmlns:a="http://schemas.openxmlformats.org/drawingml/2006/main" w="0">
            <a:noFill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B704917F-49BF-41A7-8879-532F7C5AF5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15100" y="2190750"/>
            <a:ext cx="42481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5232E"/>
                </a:solidFill>
                <a:latin typeface="DejaVu Sans"/>
                <a:ea typeface="DejaVu Sans"/>
                <a:cs typeface="DejaVu Sans"/>
              </a:defRPr>
            </a:pPr>
            <a:r>
              <a:rPr sz="1350" b="0">
                <a:solidFill>
                  <a:srgbClr val="15232E"/>
                </a:solidFill>
                <a:latin typeface="DejaVu Sans"/>
                <a:ea typeface="DejaVu Sans"/>
                <a:cs typeface="DejaVu Sans"/>
              </a:rPr>
              <a:t>Estado actual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15F6C53D-28AC-4318-96C6-C3936943FA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2800350"/>
            <a:ext cx="95250" cy="952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22A6A1"/>
          </a:solidFill>
          <a:ln xmlns:a="http://schemas.openxmlformats.org/drawingml/2006/main" w="0">
            <a:noFill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ACB3A57D-D912-4FF9-B2BE-24C19EB086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15100" y="2676525"/>
            <a:ext cx="42481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5232E"/>
                </a:solidFill>
                <a:latin typeface="DejaVu Sans"/>
                <a:ea typeface="DejaVu Sans"/>
                <a:cs typeface="DejaVu Sans"/>
              </a:defRPr>
            </a:pPr>
            <a:r>
              <a:rPr sz="1350" b="0">
                <a:solidFill>
                  <a:srgbClr val="15232E"/>
                </a:solidFill>
                <a:latin typeface="DejaVu Sans"/>
                <a:ea typeface="DejaVu Sans"/>
                <a:cs typeface="DejaVu Sans"/>
              </a:rPr>
              <a:t>Último contacto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4C6AF415-9DCC-4671-8614-A2099AAA15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3286125"/>
            <a:ext cx="95250" cy="952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22A6A1"/>
          </a:solidFill>
          <a:ln xmlns:a="http://schemas.openxmlformats.org/drawingml/2006/main" w="0">
            <a:noFill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7FF5B7C3-E497-4F18-A0A6-75A6E739C0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15100" y="3162300"/>
            <a:ext cx="42481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5232E"/>
                </a:solidFill>
                <a:latin typeface="DejaVu Sans"/>
                <a:ea typeface="DejaVu Sans"/>
                <a:cs typeface="DejaVu Sans"/>
              </a:defRPr>
            </a:pPr>
            <a:r>
              <a:rPr sz="1350" b="0">
                <a:solidFill>
                  <a:srgbClr val="15232E"/>
                </a:solidFill>
                <a:latin typeface="DejaVu Sans"/>
                <a:ea typeface="DejaVu Sans"/>
                <a:cs typeface="DejaVu Sans"/>
              </a:rPr>
              <a:t>Próxima acción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01D1D9EF-5521-4F8D-8F1F-4009949A46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3771900"/>
            <a:ext cx="95250" cy="952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22A6A1"/>
          </a:solidFill>
          <a:ln xmlns:a="http://schemas.openxmlformats.org/drawingml/2006/main" w="0">
            <a:noFill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DD20EBC1-7BBB-4C9E-9176-A144D48153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15100" y="3648075"/>
            <a:ext cx="42481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5232E"/>
                </a:solidFill>
                <a:latin typeface="DejaVu Sans"/>
                <a:ea typeface="DejaVu Sans"/>
                <a:cs typeface="DejaVu Sans"/>
              </a:defRPr>
            </a:pPr>
            <a:r>
              <a:rPr sz="1350" b="0">
                <a:solidFill>
                  <a:srgbClr val="15232E"/>
                </a:solidFill>
                <a:latin typeface="DejaVu Sans"/>
                <a:ea typeface="DejaVu Sans"/>
                <a:cs typeface="DejaVu Sans"/>
              </a:rPr>
              <a:t>Fecha de próxima acción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BE3C6082-F9E7-4BA9-A21D-992EA746CF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4257675"/>
            <a:ext cx="95250" cy="952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22A6A1"/>
          </a:solidFill>
          <a:ln xmlns:a="http://schemas.openxmlformats.org/drawingml/2006/main" w="0">
            <a:noFill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2D3904D2-8F00-42DE-8B8A-27DE3A896F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15100" y="4133850"/>
            <a:ext cx="42481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5232E"/>
                </a:solidFill>
                <a:latin typeface="DejaVu Sans"/>
                <a:ea typeface="DejaVu Sans"/>
                <a:cs typeface="DejaVu Sans"/>
              </a:defRPr>
            </a:pPr>
            <a:r>
              <a:rPr sz="1350" b="0">
                <a:solidFill>
                  <a:srgbClr val="15232E"/>
                </a:solidFill>
                <a:latin typeface="DejaVu Sans"/>
                <a:ea typeface="DejaVu Sans"/>
                <a:cs typeface="DejaVu Sans"/>
              </a:rPr>
              <a:t>Origen de la oportunidad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927FEE2E-EAC5-4649-A964-7FA3A84066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4743450"/>
            <a:ext cx="95250" cy="952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22A6A1"/>
          </a:solidFill>
          <a:ln xmlns:a="http://schemas.openxmlformats.org/drawingml/2006/main" w="0">
            <a:noFill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AE8B6506-4815-47ED-B740-A1C688CB5B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15100" y="4619625"/>
            <a:ext cx="42481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5232E"/>
                </a:solidFill>
                <a:latin typeface="DejaVu Sans"/>
                <a:ea typeface="DejaVu Sans"/>
                <a:cs typeface="DejaVu Sans"/>
              </a:defRPr>
            </a:pPr>
            <a:r>
              <a:rPr sz="1350" b="0">
                <a:solidFill>
                  <a:srgbClr val="15232E"/>
                </a:solidFill>
                <a:latin typeface="DejaVu Sans"/>
                <a:ea typeface="DejaVu Sans"/>
                <a:cs typeface="DejaVu Sans"/>
              </a:rPr>
              <a:t>Observaciones comerciales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5D097B3C-B4CB-486E-8714-40B6E4F2CF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810250"/>
            <a:ext cx="24765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80208"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F28C28"/>
                </a:solidFill>
                <a:latin typeface="DejaVu Sans"/>
                <a:ea typeface="DejaVu Sans"/>
                <a:cs typeface="DejaVu Sans"/>
              </a:defRPr>
            </a:pPr>
            <a:r>
              <a:rPr sz="1200" b="1">
                <a:solidFill>
                  <a:srgbClr val="F28C28"/>
                </a:solidFill>
                <a:latin typeface="DejaVu Sans"/>
                <a:ea typeface="DejaVu Sans"/>
                <a:cs typeface="DejaVu Sans"/>
              </a:rPr>
              <a:t>Campos limitados y útiles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25FEC3FB-E862-4ECB-8FA0-F6B0C14C39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43250" y="5753100"/>
            <a:ext cx="79057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1608"/>
          </a:bodyPr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15232E"/>
                </a:solidFill>
                <a:latin typeface="DejaVu Sans"/>
                <a:ea typeface="DejaVu Sans"/>
                <a:cs typeface="DejaVu Sans"/>
              </a:defRPr>
            </a:pPr>
            <a:r>
              <a:rPr sz="1425" b="1">
                <a:solidFill>
                  <a:srgbClr val="15232E"/>
                </a:solidFill>
                <a:latin typeface="DejaVu Sans"/>
                <a:ea typeface="DejaVu Sans"/>
                <a:cs typeface="DejaVu Sans"/>
              </a:rPr>
              <a:t>El CRM debe facilitar el trabajo diario, no convertirse en una carga administrativa.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63B67F37-43BC-4FE0-BB56-B53E0B3980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77000"/>
            <a:ext cx="6858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3939"/>
          </a:bodyPr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5D6B75"/>
                </a:solidFill>
                <a:latin typeface="DejaVu Sans"/>
                <a:ea typeface="DejaVu Sans"/>
                <a:cs typeface="DejaVu Sans"/>
              </a:defRPr>
            </a:pPr>
            <a:r>
              <a:rPr sz="825" b="0">
                <a:solidFill>
                  <a:srgbClr val="5D6B75"/>
                </a:solidFill>
                <a:latin typeface="DejaVu Sans"/>
                <a:ea typeface="DejaVu Sans"/>
                <a:cs typeface="DejaVu Sans"/>
              </a:rPr>
              <a:t>IoT FENSTER  ·  CRM comercial  ·  Documento de preparación</a:t>
            </a:r>
          </a:p>
        </p:txBody>
      </p:sp>
    </p:spTree>
    <p:extLst>
      <p:ext uri="{BB962C8B-B14F-4D97-AF65-F5344CB8AC3E}">
        <p14:creationId xmlns:p14="http://schemas.microsoft.com/office/powerpoint/2010/main" val="1871801570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5F965AE8-93F6-4BD9-8DF5-1258271053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"/>
            <a:ext cx="102870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475" b="1">
                <a:solidFill>
                  <a:srgbClr val="102A43"/>
                </a:solidFill>
                <a:latin typeface="DejaVu Sans"/>
                <a:ea typeface="DejaVu Sans"/>
                <a:cs typeface="DejaVu Sans"/>
              </a:defRPr>
            </a:pPr>
            <a:r>
              <a:rPr sz="2475" b="1">
                <a:solidFill>
                  <a:srgbClr val="102A43"/>
                </a:solidFill>
                <a:latin typeface="DejaVu Sans"/>
                <a:ea typeface="DejaVu Sans"/>
                <a:cs typeface="DejaVu Sans"/>
              </a:rPr>
              <a:t>La próxima acción concentra el valor del CRM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7087825-8404-497A-AA44-D49F3FFFF9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066800"/>
            <a:ext cx="109728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2A6A1"/>
          </a:solidFill>
          <a:ln xmlns:a="http://schemas.openxmlformats.org/drawingml/2006/main" w="0">
            <a:noFill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ADED1CE-A526-4C03-97ED-A5FB9039DC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68050" y="419100"/>
            <a:ext cx="5143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125" b="1">
                <a:solidFill>
                  <a:srgbClr val="5D6B75"/>
                </a:solidFill>
                <a:latin typeface="DejaVu Sans"/>
                <a:ea typeface="DejaVu Sans"/>
                <a:cs typeface="DejaVu Sans"/>
              </a:defRPr>
            </a:pPr>
            <a:r>
              <a:rPr sz="1125" b="1">
                <a:solidFill>
                  <a:srgbClr val="5D6B75"/>
                </a:solidFill>
                <a:latin typeface="DejaVu Sans"/>
                <a:ea typeface="DejaVu Sans"/>
                <a:cs typeface="DejaVu Sans"/>
              </a:rPr>
              <a:t>07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AC31F63-B2CF-4A74-8DBC-CE4C4B02FF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428750"/>
            <a:ext cx="3905250" cy="4095750"/>
          </a:xfrm>
          <a:prstGeom xmlns:a="http://schemas.openxmlformats.org/drawingml/2006/main" prst="roundRect">
            <a:avLst>
              <a:gd name="adj" fmla="val 1951"/>
            </a:avLst>
          </a:prstGeom>
          <a:solidFill xmlns:a="http://schemas.openxmlformats.org/drawingml/2006/main">
            <a:srgbClr val="102A43"/>
          </a:solidFill>
          <a:ln xmlns:a="http://schemas.openxmlformats.org/drawingml/2006/main" w="0">
            <a:noFill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7305B73-742D-4745-A0A3-8C5FF7F60A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1762125"/>
            <a:ext cx="1143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3333"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22A6A1"/>
                </a:solidFill>
                <a:latin typeface="DejaVu Sans"/>
                <a:ea typeface="DejaVu Sans"/>
                <a:cs typeface="DejaVu Sans"/>
              </a:defRPr>
            </a:pPr>
            <a:r>
              <a:rPr sz="1500" b="1">
                <a:solidFill>
                  <a:srgbClr val="22A6A1"/>
                </a:solidFill>
                <a:latin typeface="DejaVu Sans"/>
                <a:ea typeface="DejaVu Sans"/>
                <a:cs typeface="DejaVu Sans"/>
              </a:rPr>
              <a:t>HOY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F6551DC-5566-414A-BEE9-67F96FA732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2409825"/>
            <a:ext cx="95250" cy="952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22A6A1"/>
          </a:solidFill>
          <a:ln xmlns:a="http://schemas.openxmlformats.org/drawingml/2006/main" w="0">
            <a:noFill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44C0F77-1DEB-4F5B-A0BE-D67B3CDDA3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" y="2286000"/>
            <a:ext cx="291465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pPr>
            <a:r>
              <a:rPr sz="1350" b="0">
                <a:solidFill>
                  <a:srgbClr val="FFFFFF"/>
                </a:solidFill>
                <a:latin typeface="DejaVu Sans"/>
                <a:ea typeface="DejaVu Sans"/>
                <a:cs typeface="DejaVu Sans"/>
              </a:rPr>
              <a:t>Llamar DGV Metal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E0E44A7-2FC3-4FA2-A0A7-14F2063BCD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2962275"/>
            <a:ext cx="95250" cy="952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22A6A1"/>
          </a:solidFill>
          <a:ln xmlns:a="http://schemas.openxmlformats.org/drawingml/2006/main" w="0">
            <a:noFill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91EDD57-50E9-4DDB-9D9D-1CE0CA580A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" y="2838450"/>
            <a:ext cx="291465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pPr>
            <a:r>
              <a:rPr sz="1350" b="0">
                <a:solidFill>
                  <a:srgbClr val="FFFFFF"/>
                </a:solidFill>
                <a:latin typeface="DejaVu Sans"/>
                <a:ea typeface="DejaVu Sans"/>
                <a:cs typeface="DejaVu Sans"/>
              </a:rPr>
              <a:t>Seguimiento Caixiave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A04E6FF-932F-4CB3-B6E3-29E51B4872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3514725"/>
            <a:ext cx="95250" cy="952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22A6A1"/>
          </a:solidFill>
          <a:ln xmlns:a="http://schemas.openxmlformats.org/drawingml/2006/main" w="0">
            <a:noFill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3F4B5EC-818A-49D5-89A2-9EBEC8D127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" y="3390900"/>
            <a:ext cx="291465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pPr>
            <a:r>
              <a:rPr sz="1350" b="0">
                <a:solidFill>
                  <a:srgbClr val="FFFFFF"/>
                </a:solidFill>
                <a:latin typeface="DejaVu Sans"/>
                <a:ea typeface="DejaVu Sans"/>
                <a:cs typeface="DejaVu Sans"/>
              </a:rPr>
              <a:t>Enviar información a Boschat-Laveix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0F7D043F-70B7-46D7-9E52-41DD25218F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4067175"/>
            <a:ext cx="95250" cy="952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22A6A1"/>
          </a:solidFill>
          <a:ln xmlns:a="http://schemas.openxmlformats.org/drawingml/2006/main" w="0">
            <a:noFill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3DFC039F-C7AA-4EDA-8965-1EA2226508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" y="3943350"/>
            <a:ext cx="291465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pPr>
            <a:r>
              <a:rPr sz="1350" b="0">
                <a:solidFill>
                  <a:srgbClr val="FFFFFF"/>
                </a:solidFill>
                <a:latin typeface="DejaVu Sans"/>
                <a:ea typeface="DejaVu Sans"/>
                <a:cs typeface="DejaVu Sans"/>
              </a:rPr>
              <a:t>Contactar BALTIC Fenster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AF96541F-AEA0-4BBE-9C4F-08274F101D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4619625"/>
            <a:ext cx="95250" cy="952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22A6A1"/>
          </a:solidFill>
          <a:ln xmlns:a="http://schemas.openxmlformats.org/drawingml/2006/main" w="0">
            <a:noFill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7455548B-C811-40D5-99C9-CCAF755887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" y="4495800"/>
            <a:ext cx="291465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pPr>
            <a:r>
              <a:rPr sz="1350" b="0">
                <a:solidFill>
                  <a:srgbClr val="FFFFFF"/>
                </a:solidFill>
                <a:latin typeface="DejaVu Sans"/>
                <a:ea typeface="DejaVu Sans"/>
                <a:cs typeface="DejaVu Sans"/>
              </a:rPr>
              <a:t>Revisar muestra BIEMME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9D59EBE3-983D-412D-BC35-FFE5A9E675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48250" y="1762125"/>
            <a:ext cx="57150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4667"/>
          </a:bodyPr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176B87"/>
                </a:solidFill>
                <a:latin typeface="DejaVu Sans"/>
                <a:ea typeface="DejaVu Sans"/>
                <a:cs typeface="DejaVu Sans"/>
              </a:defRPr>
            </a:pPr>
            <a:r>
              <a:rPr sz="1875" b="1">
                <a:solidFill>
                  <a:srgbClr val="176B87"/>
                </a:solidFill>
                <a:latin typeface="DejaVu Sans"/>
                <a:ea typeface="DejaVu Sans"/>
                <a:cs typeface="DejaVu Sans"/>
              </a:rPr>
              <a:t>PRÓXIMA ACCIÓN + FECHA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A912DB1F-A94E-4896-9F18-2AAEEC7611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48250" y="2381250"/>
            <a:ext cx="5810250" cy="1190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15232E"/>
                </a:solidFill>
                <a:latin typeface="DejaVu Sans"/>
                <a:ea typeface="DejaVu Sans"/>
                <a:cs typeface="DejaVu Sans"/>
              </a:defRPr>
            </a:pPr>
            <a:r>
              <a:rPr sz="1725" b="0">
                <a:solidFill>
                  <a:srgbClr val="15232E"/>
                </a:solidFill>
                <a:latin typeface="DejaVu Sans"/>
                <a:ea typeface="DejaVu Sans"/>
                <a:cs typeface="DejaVu Sans"/>
              </a:rPr>
              <a:t>El director comercial obtiene una agenda fiable y el equipo evita que una oportunidad quede olvidada después de una reunión, una muestra o una oferta.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DAE20584-BEDA-48BD-81D2-3DEC6ADA6A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48250" y="4000500"/>
            <a:ext cx="5905500" cy="1047750"/>
          </a:xfrm>
          <a:prstGeom xmlns:a="http://schemas.openxmlformats.org/drawingml/2006/main" prst="roundRect">
            <a:avLst>
              <a:gd name="adj" fmla="val 7273"/>
            </a:avLst>
          </a:prstGeom>
          <a:solidFill xmlns:a="http://schemas.openxmlformats.org/drawingml/2006/main">
            <a:srgbClr val="DFF4F3"/>
          </a:solidFill>
          <a:ln xmlns:a="http://schemas.openxmlformats.org/drawingml/2006/main" w="0">
            <a:noFill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DD16812A-14AA-4602-9C12-4CC01D30BE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0" y="4181475"/>
            <a:ext cx="1905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80392"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F28C28"/>
                </a:solidFill>
                <a:latin typeface="DejaVu Sans"/>
                <a:ea typeface="DejaVu Sans"/>
                <a:cs typeface="DejaVu Sans"/>
              </a:defRPr>
            </a:pPr>
            <a:r>
              <a:rPr sz="1275" b="1">
                <a:solidFill>
                  <a:srgbClr val="F28C28"/>
                </a:solidFill>
                <a:latin typeface="DejaVu Sans"/>
                <a:ea typeface="DejaVu Sans"/>
                <a:cs typeface="DejaVu Sans"/>
              </a:rPr>
              <a:t>Regla operativa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0FCC1246-1A9F-4557-93FA-34D2EDAF99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0" y="4524375"/>
            <a:ext cx="5238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67500"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02A43"/>
                </a:solidFill>
                <a:latin typeface="DejaVu Sans"/>
                <a:ea typeface="DejaVu Sans"/>
                <a:cs typeface="DejaVu Sans"/>
              </a:defRPr>
            </a:pPr>
            <a:r>
              <a:rPr sz="1500" b="1">
                <a:solidFill>
                  <a:srgbClr val="102A43"/>
                </a:solidFill>
                <a:latin typeface="DejaVu Sans"/>
                <a:ea typeface="DejaVu Sans"/>
                <a:cs typeface="DejaVu Sans"/>
              </a:rPr>
              <a:t>Ninguna oportunidad abierta puede quedar sin una próxima acción y una fecha.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0055E414-B309-4724-A8DF-1F01B2D553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77000"/>
            <a:ext cx="6858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3939"/>
          </a:bodyPr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5D6B75"/>
                </a:solidFill>
                <a:latin typeface="DejaVu Sans"/>
                <a:ea typeface="DejaVu Sans"/>
                <a:cs typeface="DejaVu Sans"/>
              </a:defRPr>
            </a:pPr>
            <a:r>
              <a:rPr sz="825" b="0">
                <a:solidFill>
                  <a:srgbClr val="5D6B75"/>
                </a:solidFill>
                <a:latin typeface="DejaVu Sans"/>
                <a:ea typeface="DejaVu Sans"/>
                <a:cs typeface="DejaVu Sans"/>
              </a:rPr>
              <a:t>IoT FENSTER  ·  CRM comercial  ·  Documento de preparación</a:t>
            </a:r>
          </a:p>
        </p:txBody>
      </p:sp>
    </p:spTree>
    <p:extLst>
      <p:ext uri="{BB962C8B-B14F-4D97-AF65-F5344CB8AC3E}">
        <p14:creationId xmlns:p14="http://schemas.microsoft.com/office/powerpoint/2010/main" val="1528780383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43BB5261-14D4-4F61-B146-C18481E9D4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"/>
            <a:ext cx="102870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475" b="1">
                <a:solidFill>
                  <a:srgbClr val="102A43"/>
                </a:solidFill>
                <a:latin typeface="DejaVu Sans"/>
                <a:ea typeface="DejaVu Sans"/>
                <a:cs typeface="DejaVu Sans"/>
              </a:defRPr>
            </a:pPr>
            <a:r>
              <a:rPr sz="2475" b="1">
                <a:solidFill>
                  <a:srgbClr val="102A43"/>
                </a:solidFill>
                <a:latin typeface="DejaVu Sans"/>
                <a:ea typeface="DejaVu Sans"/>
                <a:cs typeface="DejaVu Sans"/>
              </a:rPr>
              <a:t>Organización de agentes internacionales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6099769-1235-4A66-9383-CB34B3F6A2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066800"/>
            <a:ext cx="109728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2A6A1"/>
          </a:solidFill>
          <a:ln xmlns:a="http://schemas.openxmlformats.org/drawingml/2006/main" w="0">
            <a:noFill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08A5E9C-BEFB-4B2C-B34A-10B5AE1F63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68050" y="419100"/>
            <a:ext cx="5143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125" b="1">
                <a:solidFill>
                  <a:srgbClr val="5D6B75"/>
                </a:solidFill>
                <a:latin typeface="DejaVu Sans"/>
                <a:ea typeface="DejaVu Sans"/>
                <a:cs typeface="DejaVu Sans"/>
              </a:defRPr>
            </a:pPr>
            <a:r>
              <a:rPr sz="1125" b="1">
                <a:solidFill>
                  <a:srgbClr val="5D6B75"/>
                </a:solidFill>
                <a:latin typeface="DejaVu Sans"/>
                <a:ea typeface="DejaVu Sans"/>
                <a:cs typeface="DejaVu Sans"/>
              </a:rPr>
              <a:t>08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B901E91-A72A-4BE5-B128-CB5BD73D51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666875"/>
            <a:ext cx="1809750" cy="1619250"/>
          </a:xfrm>
          <a:prstGeom xmlns:a="http://schemas.openxmlformats.org/drawingml/2006/main" prst="roundRect">
            <a:avLst>
              <a:gd name="adj" fmla="val 4706"/>
            </a:avLst>
          </a:prstGeom>
          <a:solidFill xmlns:a="http://schemas.openxmlformats.org/drawingml/2006/main">
            <a:srgbClr val="EFF5F8"/>
          </a:solidFill>
          <a:ln xmlns:a="http://schemas.openxmlformats.org/drawingml/2006/main" w="9525">
            <a:solidFill>
              <a:srgbClr val="CBD8DE"/>
            </a:solidFill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A0D27E0-F37C-43EC-B1D5-E5B561B936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1924050"/>
            <a:ext cx="14668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176B87"/>
                </a:solidFill>
                <a:latin typeface="DejaVu Sans"/>
                <a:ea typeface="DejaVu Sans"/>
                <a:cs typeface="DejaVu Sans"/>
              </a:defRPr>
            </a:pPr>
            <a:r>
              <a:rPr sz="1275" b="1">
                <a:solidFill>
                  <a:srgbClr val="176B87"/>
                </a:solidFill>
                <a:latin typeface="DejaVu Sans"/>
                <a:ea typeface="DejaVu Sans"/>
                <a:cs typeface="DejaVu Sans"/>
              </a:rPr>
              <a:t>ESPAÑA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ADA57CE-B9AF-4B65-8CBE-A2E7ABB42E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381250"/>
            <a:ext cx="146685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00" b="0">
                <a:solidFill>
                  <a:srgbClr val="15232E"/>
                </a:solidFill>
                <a:latin typeface="DejaVu Sans"/>
                <a:ea typeface="DejaVu Sans"/>
                <a:cs typeface="DejaVu Sans"/>
              </a:defRPr>
            </a:pPr>
            <a:r>
              <a:rPr sz="1200" b="0">
                <a:solidFill>
                  <a:srgbClr val="15232E"/>
                </a:solidFill>
                <a:latin typeface="DejaVu Sans"/>
                <a:ea typeface="DejaVu Sans"/>
                <a:cs typeface="DejaVu Sans"/>
              </a:rPr>
              <a:t>Comercial España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D79D824-FE04-49D7-BB3E-196A82E8FF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81300" y="1666875"/>
            <a:ext cx="1809750" cy="1619250"/>
          </a:xfrm>
          <a:prstGeom xmlns:a="http://schemas.openxmlformats.org/drawingml/2006/main" prst="roundRect">
            <a:avLst>
              <a:gd name="adj" fmla="val 4706"/>
            </a:avLst>
          </a:prstGeom>
          <a:solidFill xmlns:a="http://schemas.openxmlformats.org/drawingml/2006/main">
            <a:srgbClr val="102A43"/>
          </a:solidFill>
          <a:ln xmlns:a="http://schemas.openxmlformats.org/drawingml/2006/main" w="0">
            <a:noFill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AC8CD55-199A-488E-8159-79F1D5E7E5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52750" y="1924050"/>
            <a:ext cx="14668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22A6A1"/>
                </a:solidFill>
                <a:latin typeface="DejaVu Sans"/>
                <a:ea typeface="DejaVu Sans"/>
                <a:cs typeface="DejaVu Sans"/>
              </a:defRPr>
            </a:pPr>
            <a:r>
              <a:rPr sz="1275" b="1">
                <a:solidFill>
                  <a:srgbClr val="22A6A1"/>
                </a:solidFill>
                <a:latin typeface="DejaVu Sans"/>
                <a:ea typeface="DejaVu Sans"/>
                <a:cs typeface="DejaVu Sans"/>
              </a:rPr>
              <a:t>ITALIA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A7D5E7E-03FA-4EEC-A909-8AB7CBDB82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52750" y="2381250"/>
            <a:ext cx="146685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00" b="0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pPr>
            <a:r>
              <a:rPr sz="1200" b="0">
                <a:solidFill>
                  <a:srgbClr val="FFFFFF"/>
                </a:solidFill>
                <a:latin typeface="DejaVu Sans"/>
                <a:ea typeface="DejaVu Sans"/>
                <a:cs typeface="DejaVu Sans"/>
              </a:rPr>
              <a:t>Agente Italia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8A52867-7A5A-4F81-95E3-82D3995959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1666875"/>
            <a:ext cx="1809750" cy="1619250"/>
          </a:xfrm>
          <a:prstGeom xmlns:a="http://schemas.openxmlformats.org/drawingml/2006/main" prst="roundRect">
            <a:avLst>
              <a:gd name="adj" fmla="val 4706"/>
            </a:avLst>
          </a:prstGeom>
          <a:solidFill xmlns:a="http://schemas.openxmlformats.org/drawingml/2006/main">
            <a:srgbClr val="EFF5F8"/>
          </a:solidFill>
          <a:ln xmlns:a="http://schemas.openxmlformats.org/drawingml/2006/main" w="9525">
            <a:solidFill>
              <a:srgbClr val="CBD8DE"/>
            </a:solidFill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A5149D7D-EAC1-4537-B342-911F70A739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24450" y="1924050"/>
            <a:ext cx="14668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176B87"/>
                </a:solidFill>
                <a:latin typeface="DejaVu Sans"/>
                <a:ea typeface="DejaVu Sans"/>
                <a:cs typeface="DejaVu Sans"/>
              </a:defRPr>
            </a:pPr>
            <a:r>
              <a:rPr sz="1275" b="1">
                <a:solidFill>
                  <a:srgbClr val="176B87"/>
                </a:solidFill>
                <a:latin typeface="DejaVu Sans"/>
                <a:ea typeface="DejaVu Sans"/>
                <a:cs typeface="DejaVu Sans"/>
              </a:rPr>
              <a:t>FRANCIA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0AA54A22-B2F2-4F9C-A1FF-C5AA912EBD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24450" y="2381250"/>
            <a:ext cx="146685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00" b="0">
                <a:solidFill>
                  <a:srgbClr val="15232E"/>
                </a:solidFill>
                <a:latin typeface="DejaVu Sans"/>
                <a:ea typeface="DejaVu Sans"/>
                <a:cs typeface="DejaVu Sans"/>
              </a:defRPr>
            </a:pPr>
            <a:r>
              <a:rPr sz="1200" b="0">
                <a:solidFill>
                  <a:srgbClr val="15232E"/>
                </a:solidFill>
                <a:latin typeface="DejaVu Sans"/>
                <a:ea typeface="DejaVu Sans"/>
                <a:cs typeface="DejaVu Sans"/>
              </a:rPr>
              <a:t>Agente Francia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EB161708-1B23-4A55-BFA0-0BD099506E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24700" y="1666875"/>
            <a:ext cx="1809750" cy="1619250"/>
          </a:xfrm>
          <a:prstGeom xmlns:a="http://schemas.openxmlformats.org/drawingml/2006/main" prst="roundRect">
            <a:avLst>
              <a:gd name="adj" fmla="val 4706"/>
            </a:avLst>
          </a:prstGeom>
          <a:solidFill xmlns:a="http://schemas.openxmlformats.org/drawingml/2006/main">
            <a:srgbClr val="EFF5F8"/>
          </a:solidFill>
          <a:ln xmlns:a="http://schemas.openxmlformats.org/drawingml/2006/main" w="9525">
            <a:solidFill>
              <a:srgbClr val="CBD8DE"/>
            </a:solidFill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BEC00026-C3F0-481E-972D-E8F0CDBD61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96150" y="1924050"/>
            <a:ext cx="14668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176B87"/>
                </a:solidFill>
                <a:latin typeface="DejaVu Sans"/>
                <a:ea typeface="DejaVu Sans"/>
                <a:cs typeface="DejaVu Sans"/>
              </a:defRPr>
            </a:pPr>
            <a:r>
              <a:rPr sz="1275" b="1">
                <a:solidFill>
                  <a:srgbClr val="176B87"/>
                </a:solidFill>
                <a:latin typeface="DejaVu Sans"/>
                <a:ea typeface="DejaVu Sans"/>
                <a:cs typeface="DejaVu Sans"/>
              </a:rPr>
              <a:t>PORTUGAL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B1FD5446-5D87-47AE-8A84-6D18049B32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96150" y="2381250"/>
            <a:ext cx="146685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00" b="0">
                <a:solidFill>
                  <a:srgbClr val="15232E"/>
                </a:solidFill>
                <a:latin typeface="DejaVu Sans"/>
                <a:ea typeface="DejaVu Sans"/>
                <a:cs typeface="DejaVu Sans"/>
              </a:defRPr>
            </a:pPr>
            <a:r>
              <a:rPr sz="1200" b="0">
                <a:solidFill>
                  <a:srgbClr val="15232E"/>
                </a:solidFill>
                <a:latin typeface="DejaVu Sans"/>
                <a:ea typeface="DejaVu Sans"/>
                <a:cs typeface="DejaVu Sans"/>
              </a:rPr>
              <a:t>Agente Portugal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761A92F7-0374-4911-8E81-C877B259C2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6400" y="1666875"/>
            <a:ext cx="1809750" cy="1619250"/>
          </a:xfrm>
          <a:prstGeom xmlns:a="http://schemas.openxmlformats.org/drawingml/2006/main" prst="roundRect">
            <a:avLst>
              <a:gd name="adj" fmla="val 4706"/>
            </a:avLst>
          </a:prstGeom>
          <a:solidFill xmlns:a="http://schemas.openxmlformats.org/drawingml/2006/main">
            <a:srgbClr val="EFF5F8"/>
          </a:solidFill>
          <a:ln xmlns:a="http://schemas.openxmlformats.org/drawingml/2006/main" w="9525">
            <a:solidFill>
              <a:srgbClr val="CBD8DE"/>
            </a:solidFill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89725002-F746-4F8B-9B6C-3D400B2C32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67850" y="1924050"/>
            <a:ext cx="14668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176B87"/>
                </a:solidFill>
                <a:latin typeface="DejaVu Sans"/>
                <a:ea typeface="DejaVu Sans"/>
                <a:cs typeface="DejaVu Sans"/>
              </a:defRPr>
            </a:pPr>
            <a:r>
              <a:rPr sz="1275" b="1">
                <a:solidFill>
                  <a:srgbClr val="176B87"/>
                </a:solidFill>
                <a:latin typeface="DejaVu Sans"/>
                <a:ea typeface="DejaVu Sans"/>
                <a:cs typeface="DejaVu Sans"/>
              </a:rPr>
              <a:t>ALEMANIA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A40D2AA2-16DC-433B-A8E9-236C0254AD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67850" y="2381250"/>
            <a:ext cx="146685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00" b="0">
                <a:solidFill>
                  <a:srgbClr val="15232E"/>
                </a:solidFill>
                <a:latin typeface="DejaVu Sans"/>
                <a:ea typeface="DejaVu Sans"/>
                <a:cs typeface="DejaVu Sans"/>
              </a:defRPr>
            </a:pPr>
            <a:r>
              <a:rPr sz="1200" b="0">
                <a:solidFill>
                  <a:srgbClr val="15232E"/>
                </a:solidFill>
                <a:latin typeface="DejaVu Sans"/>
                <a:ea typeface="DejaVu Sans"/>
                <a:cs typeface="DejaVu Sans"/>
              </a:rPr>
              <a:t>Agente Alemania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69FAD8E7-14AA-411D-9A4C-A116B7E571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762375"/>
            <a:ext cx="10706100" cy="1571625"/>
          </a:xfrm>
          <a:prstGeom xmlns:a="http://schemas.openxmlformats.org/drawingml/2006/main" prst="roundRect">
            <a:avLst>
              <a:gd name="adj" fmla="val 4848"/>
            </a:avLst>
          </a:prstGeom>
          <a:solidFill xmlns:a="http://schemas.openxmlformats.org/drawingml/2006/main">
            <a:srgbClr val="DFF4F3"/>
          </a:solidFill>
          <a:ln xmlns:a="http://schemas.openxmlformats.org/drawingml/2006/main" w="0">
            <a:noFill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F7A8327B-B2CF-4BEE-AD05-82CE9753B0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4000500"/>
            <a:ext cx="3333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0196"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176B87"/>
                </a:solidFill>
                <a:latin typeface="DejaVu Sans"/>
                <a:ea typeface="DejaVu Sans"/>
                <a:cs typeface="DejaVu Sans"/>
              </a:defRPr>
            </a:pPr>
            <a:r>
              <a:rPr sz="1275" b="1">
                <a:solidFill>
                  <a:srgbClr val="176B87"/>
                </a:solidFill>
                <a:latin typeface="DejaVu Sans"/>
                <a:ea typeface="DejaVu Sans"/>
                <a:cs typeface="DejaVu Sans"/>
              </a:rPr>
              <a:t>VISIÓN GLOBAL DE DIRECCIÓN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AC2BE9A1-AD6D-49F1-98A0-1E1B63FC4C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4400550"/>
            <a:ext cx="4095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88889"/>
          </a:bodyPr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102A43"/>
                </a:solidFill>
                <a:latin typeface="DejaVu Sans"/>
                <a:ea typeface="DejaVu Sans"/>
                <a:cs typeface="DejaVu Sans"/>
              </a:defRPr>
            </a:pPr>
            <a:r>
              <a:rPr sz="1575" b="1">
                <a:solidFill>
                  <a:srgbClr val="102A43"/>
                </a:solidFill>
                <a:latin typeface="DejaVu Sans"/>
                <a:ea typeface="DejaVu Sans"/>
                <a:cs typeface="DejaVu Sans"/>
              </a:rPr>
              <a:t>País + comercial responsable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E3AD5BAC-328B-4565-836F-DB4E3DB7DB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91125" y="4162425"/>
            <a:ext cx="55245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15232E"/>
                </a:solidFill>
                <a:latin typeface="DejaVu Sans"/>
                <a:ea typeface="DejaVu Sans"/>
                <a:cs typeface="DejaVu Sans"/>
              </a:defRPr>
            </a:pPr>
            <a:r>
              <a:rPr sz="1500" b="0">
                <a:solidFill>
                  <a:srgbClr val="15232E"/>
                </a:solidFill>
                <a:latin typeface="DejaVu Sans"/>
                <a:ea typeface="DejaVu Sans"/>
                <a:cs typeface="DejaVu Sans"/>
              </a:rPr>
              <a:t>Los agentes gestionan su territorio. Dirección Comercial y CEO consultan el conjunto, según roles y permisos.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B138A90F-30A5-444A-9C4D-6632458781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810250"/>
            <a:ext cx="107061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425" b="1">
                <a:solidFill>
                  <a:srgbClr val="15232E"/>
                </a:solidFill>
                <a:latin typeface="DejaVu Sans"/>
                <a:ea typeface="DejaVu Sans"/>
                <a:cs typeface="DejaVu Sans"/>
              </a:defRPr>
            </a:pPr>
            <a:r>
              <a:rPr sz="1425" b="1">
                <a:solidFill>
                  <a:srgbClr val="15232E"/>
                </a:solidFill>
                <a:latin typeface="DejaVu Sans"/>
                <a:ea typeface="DejaVu Sans"/>
                <a:cs typeface="DejaVu Sans"/>
              </a:rPr>
              <a:t>Un solo CRM evita hojas Excel y bases separadas por país.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AAAE2CA2-F518-43D0-B6FF-8F61A18521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77000"/>
            <a:ext cx="6858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3939"/>
          </a:bodyPr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5D6B75"/>
                </a:solidFill>
                <a:latin typeface="DejaVu Sans"/>
                <a:ea typeface="DejaVu Sans"/>
                <a:cs typeface="DejaVu Sans"/>
              </a:defRPr>
            </a:pPr>
            <a:r>
              <a:rPr sz="825" b="0">
                <a:solidFill>
                  <a:srgbClr val="5D6B75"/>
                </a:solidFill>
                <a:latin typeface="DejaVu Sans"/>
                <a:ea typeface="DejaVu Sans"/>
                <a:cs typeface="DejaVu Sans"/>
              </a:rPr>
              <a:t>IoT FENSTER  ·  CRM comercial  ·  Documento de preparación</a:t>
            </a:r>
          </a:p>
        </p:txBody>
      </p:sp>
    </p:spTree>
    <p:extLst>
      <p:ext uri="{BB962C8B-B14F-4D97-AF65-F5344CB8AC3E}">
        <p14:creationId xmlns:p14="http://schemas.microsoft.com/office/powerpoint/2010/main" val="1300788977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799C5438-42BA-4FAD-802F-3B5CD23D98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"/>
            <a:ext cx="102870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475" b="1">
                <a:solidFill>
                  <a:srgbClr val="102A43"/>
                </a:solidFill>
                <a:latin typeface="DejaVu Sans"/>
                <a:ea typeface="DejaVu Sans"/>
                <a:cs typeface="DejaVu Sans"/>
              </a:defRPr>
            </a:pPr>
            <a:r>
              <a:rPr sz="2475" b="1">
                <a:solidFill>
                  <a:srgbClr val="102A43"/>
                </a:solidFill>
                <a:latin typeface="DejaVu Sans"/>
                <a:ea typeface="DejaVu Sans"/>
                <a:cs typeface="DejaVu Sans"/>
              </a:rPr>
              <a:t>Dashboard de Dirección Comercial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1FEC0EF-EA61-4DB0-95BF-44B1B9AA09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066800"/>
            <a:ext cx="109728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2A6A1"/>
          </a:solidFill>
          <a:ln xmlns:a="http://schemas.openxmlformats.org/drawingml/2006/main" w="0">
            <a:noFill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C54C472-96D8-44CA-BC6D-02046C8221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68050" y="419100"/>
            <a:ext cx="5143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125" b="1">
                <a:solidFill>
                  <a:srgbClr val="5D6B75"/>
                </a:solidFill>
                <a:latin typeface="DejaVu Sans"/>
                <a:ea typeface="DejaVu Sans"/>
                <a:cs typeface="DejaVu Sans"/>
              </a:defRPr>
            </a:pPr>
            <a:r>
              <a:rPr sz="1125" b="1">
                <a:solidFill>
                  <a:srgbClr val="5D6B75"/>
                </a:solidFill>
                <a:latin typeface="DejaVu Sans"/>
                <a:ea typeface="DejaVu Sans"/>
                <a:cs typeface="DejaVu Sans"/>
              </a:rPr>
              <a:t>09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A3CAFD0-0ACF-43FF-8E89-5E72AC9C40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476375"/>
            <a:ext cx="5143500" cy="1333500"/>
          </a:xfrm>
          <a:prstGeom xmlns:a="http://schemas.openxmlformats.org/drawingml/2006/main" prst="roundRect">
            <a:avLst>
              <a:gd name="adj" fmla="val 5714"/>
            </a:avLst>
          </a:prstGeom>
          <a:solidFill xmlns:a="http://schemas.openxmlformats.org/drawingml/2006/main">
            <a:srgbClr val="EFF5F8"/>
          </a:solidFill>
          <a:ln xmlns:a="http://schemas.openxmlformats.org/drawingml/2006/main" w="9525">
            <a:solidFill>
              <a:srgbClr val="CBD8DE"/>
            </a:solidFill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21A40BA-86AD-45CC-B56D-9756CA84B0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1704975"/>
            <a:ext cx="4572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0196"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176B87"/>
                </a:solidFill>
                <a:latin typeface="DejaVu Sans"/>
                <a:ea typeface="DejaVu Sans"/>
                <a:cs typeface="DejaVu Sans"/>
              </a:defRPr>
            </a:pPr>
            <a:r>
              <a:rPr sz="1275" b="1">
                <a:solidFill>
                  <a:srgbClr val="176B87"/>
                </a:solidFill>
                <a:latin typeface="DejaVu Sans"/>
                <a:ea typeface="DejaVu Sans"/>
                <a:cs typeface="DejaVu Sans"/>
              </a:rPr>
              <a:t>OPORTUNIDADES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309EE12-75B9-4EA7-A31A-90251F206C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105025"/>
            <a:ext cx="45720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102A43"/>
                </a:solidFill>
                <a:latin typeface="DejaVu Sans"/>
                <a:ea typeface="DejaVu Sans"/>
                <a:cs typeface="DejaVu Sans"/>
              </a:defRPr>
            </a:pPr>
            <a:r>
              <a:rPr sz="1575" b="1">
                <a:solidFill>
                  <a:srgbClr val="102A43"/>
                </a:solidFill>
                <a:latin typeface="DejaVu Sans"/>
                <a:ea typeface="DejaVu Sans"/>
                <a:cs typeface="DejaVu Sans"/>
              </a:rPr>
              <a:t>Por fase y país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E2E3299-900A-4BED-9010-13A9A6BE66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38850" y="1476375"/>
            <a:ext cx="5143500" cy="1333500"/>
          </a:xfrm>
          <a:prstGeom xmlns:a="http://schemas.openxmlformats.org/drawingml/2006/main" prst="roundRect">
            <a:avLst>
              <a:gd name="adj" fmla="val 5714"/>
            </a:avLst>
          </a:prstGeom>
          <a:solidFill xmlns:a="http://schemas.openxmlformats.org/drawingml/2006/main">
            <a:srgbClr val="102A43"/>
          </a:solidFill>
          <a:ln xmlns:a="http://schemas.openxmlformats.org/drawingml/2006/main" w="0">
            <a:noFill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E555CD7-BD34-43FD-A44F-EA986FB6B7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05550" y="1704975"/>
            <a:ext cx="4572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0196"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22A6A1"/>
                </a:solidFill>
                <a:latin typeface="DejaVu Sans"/>
                <a:ea typeface="DejaVu Sans"/>
                <a:cs typeface="DejaVu Sans"/>
              </a:defRPr>
            </a:pPr>
            <a:r>
              <a:rPr sz="1275" b="1">
                <a:solidFill>
                  <a:srgbClr val="22A6A1"/>
                </a:solidFill>
                <a:latin typeface="DejaVu Sans"/>
                <a:ea typeface="DejaVu Sans"/>
                <a:cs typeface="DejaVu Sans"/>
              </a:rPr>
              <a:t>PRÓXIMAS ACCIONES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C945FD5-BE66-42C3-BEC3-1B3757CC0E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05550" y="2105025"/>
            <a:ext cx="45720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pPr>
            <a:r>
              <a:rPr sz="1575" b="1">
                <a:solidFill>
                  <a:srgbClr val="FFFFFF"/>
                </a:solidFill>
                <a:latin typeface="DejaVu Sans"/>
                <a:ea typeface="DejaVu Sans"/>
                <a:cs typeface="DejaVu Sans"/>
              </a:rPr>
              <a:t>Hoy, vencidas y futuras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22454CF-4FB4-44F9-9227-EC4AF71818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095625"/>
            <a:ext cx="5143500" cy="1333500"/>
          </a:xfrm>
          <a:prstGeom xmlns:a="http://schemas.openxmlformats.org/drawingml/2006/main" prst="roundRect">
            <a:avLst>
              <a:gd name="adj" fmla="val 5714"/>
            </a:avLst>
          </a:prstGeom>
          <a:solidFill xmlns:a="http://schemas.openxmlformats.org/drawingml/2006/main">
            <a:srgbClr val="EFF5F8"/>
          </a:solidFill>
          <a:ln xmlns:a="http://schemas.openxmlformats.org/drawingml/2006/main" w="9525">
            <a:solidFill>
              <a:srgbClr val="CBD8DE"/>
            </a:solidFill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9EA3F4E5-BB67-490E-9718-9C0319A706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3324225"/>
            <a:ext cx="4572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0196"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176B87"/>
                </a:solidFill>
                <a:latin typeface="DejaVu Sans"/>
                <a:ea typeface="DejaVu Sans"/>
                <a:cs typeface="DejaVu Sans"/>
              </a:defRPr>
            </a:pPr>
            <a:r>
              <a:rPr sz="1275" b="1">
                <a:solidFill>
                  <a:srgbClr val="176B87"/>
                </a:solidFill>
                <a:latin typeface="DejaVu Sans"/>
                <a:ea typeface="DejaVu Sans"/>
                <a:cs typeface="DejaVu Sans"/>
              </a:rPr>
              <a:t>PIPELINE POTENCIAL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9AEC4598-D445-41D7-90EA-9090491398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3724275"/>
            <a:ext cx="45720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102A43"/>
                </a:solidFill>
                <a:latin typeface="DejaVu Sans"/>
                <a:ea typeface="DejaVu Sans"/>
                <a:cs typeface="DejaVu Sans"/>
              </a:defRPr>
            </a:pPr>
            <a:r>
              <a:rPr sz="1575" b="1">
                <a:solidFill>
                  <a:srgbClr val="102A43"/>
                </a:solidFill>
                <a:latin typeface="DejaVu Sans"/>
                <a:ea typeface="DejaVu Sans"/>
                <a:cs typeface="DejaVu Sans"/>
              </a:rPr>
              <a:t>Unidades y valor estimado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80EF7467-B36D-40CA-A1DF-5522F24C6F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38850" y="3095625"/>
            <a:ext cx="5143500" cy="1333500"/>
          </a:xfrm>
          <a:prstGeom xmlns:a="http://schemas.openxmlformats.org/drawingml/2006/main" prst="roundRect">
            <a:avLst>
              <a:gd name="adj" fmla="val 5714"/>
            </a:avLst>
          </a:prstGeom>
          <a:solidFill xmlns:a="http://schemas.openxmlformats.org/drawingml/2006/main">
            <a:srgbClr val="EFF5F8"/>
          </a:solidFill>
          <a:ln xmlns:a="http://schemas.openxmlformats.org/drawingml/2006/main" w="9525">
            <a:solidFill>
              <a:srgbClr val="CBD8DE"/>
            </a:solidFill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6A0F837A-D998-45E4-A8FB-97843C5372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05550" y="3324225"/>
            <a:ext cx="4572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0196"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176B87"/>
                </a:solidFill>
                <a:latin typeface="DejaVu Sans"/>
                <a:ea typeface="DejaVu Sans"/>
                <a:cs typeface="DejaVu Sans"/>
              </a:defRPr>
            </a:pPr>
            <a:r>
              <a:rPr sz="1275" b="1">
                <a:solidFill>
                  <a:srgbClr val="176B87"/>
                </a:solidFill>
                <a:latin typeface="DejaVu Sans"/>
                <a:ea typeface="DejaVu Sans"/>
                <a:cs typeface="DejaVu Sans"/>
              </a:rPr>
              <a:t>ACTIVIDAD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FC475C4E-1EEB-42D8-86FD-2F630998D0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05550" y="3724275"/>
            <a:ext cx="45720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102A43"/>
                </a:solidFill>
                <a:latin typeface="DejaVu Sans"/>
                <a:ea typeface="DejaVu Sans"/>
                <a:cs typeface="DejaVu Sans"/>
              </a:defRPr>
            </a:pPr>
            <a:r>
              <a:rPr sz="1575" b="1">
                <a:solidFill>
                  <a:srgbClr val="102A43"/>
                </a:solidFill>
                <a:latin typeface="DejaVu Sans"/>
                <a:ea typeface="DejaVu Sans"/>
                <a:cs typeface="DejaVu Sans"/>
              </a:rPr>
              <a:t>Reuniones, muestras y ofertas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8D77045E-4692-47BC-8261-3C61E48966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953000"/>
            <a:ext cx="10706100" cy="904875"/>
          </a:xfrm>
          <a:prstGeom xmlns:a="http://schemas.openxmlformats.org/drawingml/2006/main" prst="roundRect">
            <a:avLst>
              <a:gd name="adj" fmla="val 8421"/>
            </a:avLst>
          </a:prstGeom>
          <a:solidFill xmlns:a="http://schemas.openxmlformats.org/drawingml/2006/main">
            <a:srgbClr val="DFF4F3"/>
          </a:solidFill>
          <a:ln xmlns:a="http://schemas.openxmlformats.org/drawingml/2006/main" w="0">
            <a:noFill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5B39D6E6-E4FC-4111-A75B-E428C7EC1D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5133975"/>
            <a:ext cx="1381125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80392"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F28C28"/>
                </a:solidFill>
                <a:latin typeface="DejaVu Sans"/>
                <a:ea typeface="DejaVu Sans"/>
                <a:cs typeface="DejaVu Sans"/>
              </a:defRPr>
            </a:pPr>
            <a:r>
              <a:rPr sz="1275" b="1">
                <a:solidFill>
                  <a:srgbClr val="F28C28"/>
                </a:solidFill>
                <a:latin typeface="DejaVu Sans"/>
                <a:ea typeface="DejaVu Sans"/>
                <a:cs typeface="DejaVu Sans"/>
              </a:rPr>
              <a:t>Objetivo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87C3ABDC-E1AD-435F-B916-6E58FE9EA7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86000" y="5057775"/>
            <a:ext cx="8572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80000"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5232E"/>
                </a:solidFill>
                <a:latin typeface="DejaVu Sans"/>
                <a:ea typeface="DejaVu Sans"/>
                <a:cs typeface="DejaVu Sans"/>
              </a:defRPr>
            </a:pPr>
            <a:r>
              <a:rPr sz="1500" b="1">
                <a:solidFill>
                  <a:srgbClr val="15232E"/>
                </a:solidFill>
                <a:latin typeface="DejaVu Sans"/>
                <a:ea typeface="DejaVu Sans"/>
                <a:cs typeface="DejaVu Sans"/>
              </a:rPr>
              <a:t>Detectar dónde se atascan las oportunidades, qué agentes necesitan apoyo y qué acciones requieren prioridad.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326246F2-7475-4610-A7CD-FE768AEB7A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77000"/>
            <a:ext cx="6858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3939"/>
          </a:bodyPr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5D6B75"/>
                </a:solidFill>
                <a:latin typeface="DejaVu Sans"/>
                <a:ea typeface="DejaVu Sans"/>
                <a:cs typeface="DejaVu Sans"/>
              </a:defRPr>
            </a:pPr>
            <a:r>
              <a:rPr sz="825" b="0">
                <a:solidFill>
                  <a:srgbClr val="5D6B75"/>
                </a:solidFill>
                <a:latin typeface="DejaVu Sans"/>
                <a:ea typeface="DejaVu Sans"/>
                <a:cs typeface="DejaVu Sans"/>
              </a:rPr>
              <a:t>IoT FENSTER  ·  CRM comercial  ·  Documento de preparación</a:t>
            </a:r>
          </a:p>
        </p:txBody>
      </p:sp>
    </p:spTree>
    <p:extLst>
      <p:ext uri="{BB962C8B-B14F-4D97-AF65-F5344CB8AC3E}">
        <p14:creationId xmlns:p14="http://schemas.microsoft.com/office/powerpoint/2010/main" val="1230299582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7EC45712-A22F-46E9-87BF-CC619C1897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"/>
            <a:ext cx="102870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475" b="1">
                <a:solidFill>
                  <a:srgbClr val="102A43"/>
                </a:solidFill>
                <a:latin typeface="DejaVu Sans"/>
                <a:ea typeface="DejaVu Sans"/>
                <a:cs typeface="DejaVu Sans"/>
              </a:defRPr>
            </a:pPr>
            <a:r>
              <a:rPr sz="2475" b="1">
                <a:solidFill>
                  <a:srgbClr val="102A43"/>
                </a:solidFill>
                <a:latin typeface="DejaVu Sans"/>
                <a:ea typeface="DejaVu Sans"/>
                <a:cs typeface="DejaVu Sans"/>
              </a:rPr>
              <a:t>Implantación inicial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D678201-60A1-4D67-B53D-6C52C6C80F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066800"/>
            <a:ext cx="109728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2A6A1"/>
          </a:solidFill>
          <a:ln xmlns:a="http://schemas.openxmlformats.org/drawingml/2006/main" w="0">
            <a:noFill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1CF0C7C-96C5-475A-A536-6D7FCD67C3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68050" y="419100"/>
            <a:ext cx="5143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125" b="1">
                <a:solidFill>
                  <a:srgbClr val="5D6B75"/>
                </a:solidFill>
                <a:latin typeface="DejaVu Sans"/>
                <a:ea typeface="DejaVu Sans"/>
                <a:cs typeface="DejaVu Sans"/>
              </a:defRPr>
            </a:pPr>
            <a:r>
              <a:rPr sz="1125" b="1">
                <a:solidFill>
                  <a:srgbClr val="5D6B75"/>
                </a:solidFill>
                <a:latin typeface="DejaVu Sans"/>
                <a:ea typeface="DejaVu Sans"/>
                <a:cs typeface="DejaVu Sans"/>
              </a:rPr>
              <a:t>10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3A39DEF-C825-43DA-A93F-61875B9B34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428750"/>
            <a:ext cx="10706100" cy="819150"/>
          </a:xfrm>
          <a:prstGeom xmlns:a="http://schemas.openxmlformats.org/drawingml/2006/main" prst="roundRect">
            <a:avLst>
              <a:gd name="adj" fmla="val 930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BD8DE"/>
            </a:solidFill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4874FB7-9D36-4797-9783-7001335632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428750"/>
            <a:ext cx="857250" cy="819150"/>
          </a:xfrm>
          <a:prstGeom xmlns:a="http://schemas.openxmlformats.org/drawingml/2006/main" prst="roundRect">
            <a:avLst>
              <a:gd name="adj" fmla="val 9302"/>
            </a:avLst>
          </a:prstGeom>
          <a:solidFill xmlns:a="http://schemas.openxmlformats.org/drawingml/2006/main">
            <a:srgbClr val="22A6A1"/>
          </a:solidFill>
          <a:ln xmlns:a="http://schemas.openxmlformats.org/drawingml/2006/main" w="0">
            <a:noFill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BB9E0AC-438E-4519-B8F0-D83FF4FDB5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428750"/>
            <a:ext cx="857250" cy="819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pPr>
            <a:r>
              <a:rPr sz="2100" b="1">
                <a:solidFill>
                  <a:srgbClr val="FFFFFF"/>
                </a:solidFill>
                <a:latin typeface="DejaVu Sans"/>
                <a:ea typeface="DejaVu Sans"/>
                <a:cs typeface="DejaVu Sans"/>
              </a:rPr>
              <a:t>1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EA9AD10-28A6-407F-B4BE-FA5BC0DCAA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62125" y="1562100"/>
            <a:ext cx="1809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85185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76B87"/>
                </a:solidFill>
                <a:latin typeface="DejaVu Sans"/>
                <a:ea typeface="DejaVu Sans"/>
                <a:cs typeface="DejaVu Sans"/>
              </a:defRPr>
            </a:pPr>
            <a:r>
              <a:rPr sz="1350" b="1">
                <a:solidFill>
                  <a:srgbClr val="176B87"/>
                </a:solidFill>
                <a:latin typeface="DejaVu Sans"/>
                <a:ea typeface="DejaVu Sans"/>
                <a:cs typeface="DejaVu Sans"/>
              </a:rPr>
              <a:t>CONFIGURAR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243D194-116D-4EE1-AE1E-8960CFFCFD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14750" y="1552575"/>
            <a:ext cx="714375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5232E"/>
                </a:solidFill>
                <a:latin typeface="DejaVu Sans"/>
                <a:ea typeface="DejaVu Sans"/>
                <a:cs typeface="DejaVu Sans"/>
              </a:defRPr>
            </a:pPr>
            <a:r>
              <a:rPr sz="1350" b="0">
                <a:solidFill>
                  <a:srgbClr val="15232E"/>
                </a:solidFill>
                <a:latin typeface="DejaVu Sans"/>
                <a:ea typeface="DejaVu Sans"/>
                <a:cs typeface="DejaVu Sans"/>
              </a:rPr>
              <a:t>Pipeline, campos, países, usuarios, roles y permisos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A4DFA2B-7B48-4C02-9D18-C88E36372B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95550"/>
            <a:ext cx="10706100" cy="819150"/>
          </a:xfrm>
          <a:prstGeom xmlns:a="http://schemas.openxmlformats.org/drawingml/2006/main" prst="roundRect">
            <a:avLst>
              <a:gd name="adj" fmla="val 9302"/>
            </a:avLst>
          </a:prstGeom>
          <a:solidFill xmlns:a="http://schemas.openxmlformats.org/drawingml/2006/main">
            <a:srgbClr val="EFF5F8"/>
          </a:solidFill>
          <a:ln xmlns:a="http://schemas.openxmlformats.org/drawingml/2006/main" w="9525">
            <a:solidFill>
              <a:srgbClr val="CBD8DE"/>
            </a:solidFill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E9E1449-1DB8-4819-B61B-B30E8E80F7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95550"/>
            <a:ext cx="857250" cy="819150"/>
          </a:xfrm>
          <a:prstGeom xmlns:a="http://schemas.openxmlformats.org/drawingml/2006/main" prst="roundRect">
            <a:avLst>
              <a:gd name="adj" fmla="val 9302"/>
            </a:avLst>
          </a:prstGeom>
          <a:solidFill xmlns:a="http://schemas.openxmlformats.org/drawingml/2006/main">
            <a:srgbClr val="102A43"/>
          </a:solidFill>
          <a:ln xmlns:a="http://schemas.openxmlformats.org/drawingml/2006/main" w="0">
            <a:noFill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9D68DF9C-A4D7-4B2A-B34E-202321769B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95550"/>
            <a:ext cx="857250" cy="819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pPr>
            <a:r>
              <a:rPr sz="2100" b="1">
                <a:solidFill>
                  <a:srgbClr val="FFFFFF"/>
                </a:solidFill>
                <a:latin typeface="DejaVu Sans"/>
                <a:ea typeface="DejaVu Sans"/>
                <a:cs typeface="DejaVu Sans"/>
              </a:rPr>
              <a:t>2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9008AB2B-E056-468E-B785-7ED2745037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62125" y="2628900"/>
            <a:ext cx="1809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85185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76B87"/>
                </a:solidFill>
                <a:latin typeface="DejaVu Sans"/>
                <a:ea typeface="DejaVu Sans"/>
                <a:cs typeface="DejaVu Sans"/>
              </a:defRPr>
            </a:pPr>
            <a:r>
              <a:rPr sz="1350" b="1">
                <a:solidFill>
                  <a:srgbClr val="176B87"/>
                </a:solidFill>
                <a:latin typeface="DejaVu Sans"/>
                <a:ea typeface="DejaVu Sans"/>
                <a:cs typeface="DejaVu Sans"/>
              </a:rPr>
              <a:t>CARGAR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F69C11C2-E3E5-4FEA-9377-165D2B0494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14750" y="2619375"/>
            <a:ext cx="714375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5232E"/>
                </a:solidFill>
                <a:latin typeface="DejaVu Sans"/>
                <a:ea typeface="DejaVu Sans"/>
                <a:cs typeface="DejaVu Sans"/>
              </a:defRPr>
            </a:pPr>
            <a:r>
              <a:rPr sz="1350" b="0">
                <a:solidFill>
                  <a:srgbClr val="15232E"/>
                </a:solidFill>
                <a:latin typeface="DejaVu Sans"/>
                <a:ea typeface="DejaVu Sans"/>
                <a:cs typeface="DejaVu Sans"/>
              </a:rPr>
              <a:t>Empresas y oportunidades activas con datos mínimos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B7F3E1FF-EC8A-495C-8E38-4696301B81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562350"/>
            <a:ext cx="10706100" cy="819150"/>
          </a:xfrm>
          <a:prstGeom xmlns:a="http://schemas.openxmlformats.org/drawingml/2006/main" prst="roundRect">
            <a:avLst>
              <a:gd name="adj" fmla="val 930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BD8DE"/>
            </a:solidFill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DC99F8BE-E1F6-4F1F-A8DC-F8F8717774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562350"/>
            <a:ext cx="857250" cy="819150"/>
          </a:xfrm>
          <a:prstGeom xmlns:a="http://schemas.openxmlformats.org/drawingml/2006/main" prst="roundRect">
            <a:avLst>
              <a:gd name="adj" fmla="val 9302"/>
            </a:avLst>
          </a:prstGeom>
          <a:solidFill xmlns:a="http://schemas.openxmlformats.org/drawingml/2006/main">
            <a:srgbClr val="102A43"/>
          </a:solidFill>
          <a:ln xmlns:a="http://schemas.openxmlformats.org/drawingml/2006/main" w="0">
            <a:noFill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DF66CEBE-D300-4CB7-B653-DB53FA2F1D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562350"/>
            <a:ext cx="857250" cy="819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pPr>
            <a:r>
              <a:rPr sz="2100" b="1">
                <a:solidFill>
                  <a:srgbClr val="FFFFFF"/>
                </a:solidFill>
                <a:latin typeface="DejaVu Sans"/>
                <a:ea typeface="DejaVu Sans"/>
                <a:cs typeface="DejaVu Sans"/>
              </a:rPr>
              <a:t>3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B075D805-2984-4B6A-AE62-18E834C57E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62125" y="3695700"/>
            <a:ext cx="1809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85185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76B87"/>
                </a:solidFill>
                <a:latin typeface="DejaVu Sans"/>
                <a:ea typeface="DejaVu Sans"/>
                <a:cs typeface="DejaVu Sans"/>
              </a:defRPr>
            </a:pPr>
            <a:r>
              <a:rPr sz="1350" b="1">
                <a:solidFill>
                  <a:srgbClr val="176B87"/>
                </a:solidFill>
                <a:latin typeface="DejaVu Sans"/>
                <a:ea typeface="DejaVu Sans"/>
                <a:cs typeface="DejaVu Sans"/>
              </a:rPr>
              <a:t>ACTIVAR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5B67F803-5125-42FF-8C27-CB9FA689BD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14750" y="3686175"/>
            <a:ext cx="714375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5232E"/>
                </a:solidFill>
                <a:latin typeface="DejaVu Sans"/>
                <a:ea typeface="DejaVu Sans"/>
                <a:cs typeface="DejaVu Sans"/>
              </a:defRPr>
            </a:pPr>
            <a:r>
              <a:rPr sz="1350" b="0">
                <a:solidFill>
                  <a:srgbClr val="15232E"/>
                </a:solidFill>
                <a:latin typeface="DejaVu Sans"/>
                <a:ea typeface="DejaVu Sans"/>
                <a:cs typeface="DejaVu Sans"/>
              </a:rPr>
              <a:t>Regla de próxima acción, agenda diaria y aplicación móvil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CC5C6B7D-102F-4265-B1A4-C93386F642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629150"/>
            <a:ext cx="10706100" cy="819150"/>
          </a:xfrm>
          <a:prstGeom xmlns:a="http://schemas.openxmlformats.org/drawingml/2006/main" prst="roundRect">
            <a:avLst>
              <a:gd name="adj" fmla="val 9302"/>
            </a:avLst>
          </a:prstGeom>
          <a:solidFill xmlns:a="http://schemas.openxmlformats.org/drawingml/2006/main">
            <a:srgbClr val="EFF5F8"/>
          </a:solidFill>
          <a:ln xmlns:a="http://schemas.openxmlformats.org/drawingml/2006/main" w="9525">
            <a:solidFill>
              <a:srgbClr val="CBD8DE"/>
            </a:solidFill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713A09D5-021C-4384-9E6D-241D6C4072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629150"/>
            <a:ext cx="857250" cy="819150"/>
          </a:xfrm>
          <a:prstGeom xmlns:a="http://schemas.openxmlformats.org/drawingml/2006/main" prst="roundRect">
            <a:avLst>
              <a:gd name="adj" fmla="val 9302"/>
            </a:avLst>
          </a:prstGeom>
          <a:solidFill xmlns:a="http://schemas.openxmlformats.org/drawingml/2006/main">
            <a:srgbClr val="102A43"/>
          </a:solidFill>
          <a:ln xmlns:a="http://schemas.openxmlformats.org/drawingml/2006/main" w="0">
            <a:noFill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3A08EE11-18A6-436B-BFE7-67523C9B2D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629150"/>
            <a:ext cx="857250" cy="819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pPr>
            <a:r>
              <a:rPr sz="2100" b="1">
                <a:solidFill>
                  <a:srgbClr val="FFFFFF"/>
                </a:solidFill>
                <a:latin typeface="DejaVu Sans"/>
                <a:ea typeface="DejaVu Sans"/>
                <a:cs typeface="DejaVu Sans"/>
              </a:rPr>
              <a:t>4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749599A1-2191-4A77-9972-E0B185ECD2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62125" y="4762500"/>
            <a:ext cx="1809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85185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76B87"/>
                </a:solidFill>
                <a:latin typeface="DejaVu Sans"/>
                <a:ea typeface="DejaVu Sans"/>
                <a:cs typeface="DejaVu Sans"/>
              </a:defRPr>
            </a:pPr>
            <a:r>
              <a:rPr sz="1350" b="1">
                <a:solidFill>
                  <a:srgbClr val="176B87"/>
                </a:solidFill>
                <a:latin typeface="DejaVu Sans"/>
                <a:ea typeface="DejaVu Sans"/>
                <a:cs typeface="DejaVu Sans"/>
              </a:rPr>
              <a:t>REVISAR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FBA623BC-0B2D-4629-9DC1-8AB8E377F8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14750" y="4752975"/>
            <a:ext cx="714375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5232E"/>
                </a:solidFill>
                <a:latin typeface="DejaVu Sans"/>
                <a:ea typeface="DejaVu Sans"/>
                <a:cs typeface="DejaVu Sans"/>
              </a:defRPr>
            </a:pPr>
            <a:r>
              <a:rPr sz="1350" b="0">
                <a:solidFill>
                  <a:srgbClr val="15232E"/>
                </a:solidFill>
                <a:latin typeface="DejaVu Sans"/>
                <a:ea typeface="DejaVu Sans"/>
                <a:cs typeface="DejaVu Sans"/>
              </a:rPr>
              <a:t>Uso semanal, calidad de datos y ajustes del pipeline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4F5FCC89-864C-4BEA-B54B-C1C27D7D42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905500"/>
            <a:ext cx="21907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80208"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F28C28"/>
                </a:solidFill>
                <a:latin typeface="DejaVu Sans"/>
                <a:ea typeface="DejaVu Sans"/>
                <a:cs typeface="DejaVu Sans"/>
              </a:defRPr>
            </a:pPr>
            <a:r>
              <a:rPr sz="1200" b="1">
                <a:solidFill>
                  <a:srgbClr val="F28C28"/>
                </a:solidFill>
                <a:latin typeface="DejaVu Sans"/>
                <a:ea typeface="DejaVu Sans"/>
                <a:cs typeface="DejaVu Sans"/>
              </a:rPr>
              <a:t>Prioridad de adopción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8029BE8A-1BE9-4285-94CD-DA8728BDFF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0" y="5838825"/>
            <a:ext cx="80962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85692"/>
          </a:bodyPr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15232E"/>
                </a:solidFill>
                <a:latin typeface="DejaVu Sans"/>
                <a:ea typeface="DejaVu Sans"/>
                <a:cs typeface="DejaVu Sans"/>
              </a:defRPr>
            </a:pPr>
            <a:r>
              <a:rPr sz="1425" b="1">
                <a:solidFill>
                  <a:srgbClr val="15232E"/>
                </a:solidFill>
                <a:latin typeface="DejaVu Sans"/>
                <a:ea typeface="DejaVu Sans"/>
                <a:cs typeface="DejaVu Sans"/>
              </a:rPr>
              <a:t>Empezar simple, asegurar el hábito y ampliar funciones cuando exista una necesidad real.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EC47E65D-C824-49EC-8159-D8B5B289E2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77000"/>
            <a:ext cx="6858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3939"/>
          </a:bodyPr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5D6B75"/>
                </a:solidFill>
                <a:latin typeface="DejaVu Sans"/>
                <a:ea typeface="DejaVu Sans"/>
                <a:cs typeface="DejaVu Sans"/>
              </a:defRPr>
            </a:pPr>
            <a:r>
              <a:rPr sz="825" b="0">
                <a:solidFill>
                  <a:srgbClr val="5D6B75"/>
                </a:solidFill>
                <a:latin typeface="DejaVu Sans"/>
                <a:ea typeface="DejaVu Sans"/>
                <a:cs typeface="DejaVu Sans"/>
              </a:rPr>
              <a:t>IoT FENSTER  ·  CRM comercial  ·  Documento de preparación</a:t>
            </a:r>
          </a:p>
        </p:txBody>
      </p:sp>
    </p:spTree>
    <p:extLst>
      <p:ext uri="{BB962C8B-B14F-4D97-AF65-F5344CB8AC3E}">
        <p14:creationId xmlns:p14="http://schemas.microsoft.com/office/powerpoint/2010/main" val="529103158"/>
      </p:ext>
    </p:extLst>
  </p:cSld>
</p:sld>
</file>

<file path=ppt/slides/slide11.xml><?xml version="1.0" encoding="utf-8"?>
<p:sld xmlns:p="http://schemas.openxmlformats.org/presentationml/2006/main">
  <p:cSld>
    <p:bg>
      <p:bgPr>
        <a:solidFill xmlns:a="http://schemas.openxmlformats.org/drawingml/2006/main">
          <a:srgbClr val="102A43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FAFB7048-78C5-4884-8738-A26EBEAF00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28625"/>
            <a:ext cx="100965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pPr>
            <a:r>
              <a:rPr sz="2550" b="1">
                <a:solidFill>
                  <a:srgbClr val="FFFFFF"/>
                </a:solidFill>
                <a:latin typeface="DejaVu Sans"/>
                <a:ea typeface="DejaVu Sans"/>
                <a:cs typeface="DejaVu Sans"/>
              </a:rPr>
              <a:t>Decisiones para la reunión comercial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ABCB139-404C-48E3-AA53-92B131BBFB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04900"/>
            <a:ext cx="107061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2A6A1"/>
          </a:solidFill>
          <a:ln xmlns:a="http://schemas.openxmlformats.org/drawingml/2006/main" w="0">
            <a:noFill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748E054-7375-418B-82D2-3E8C53CAD4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68050" y="457200"/>
            <a:ext cx="5143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125" b="1">
                <a:solidFill>
                  <a:srgbClr val="9EB4BF"/>
                </a:solidFill>
                <a:latin typeface="DejaVu Sans"/>
                <a:ea typeface="DejaVu Sans"/>
                <a:cs typeface="DejaVu Sans"/>
              </a:defRPr>
            </a:pPr>
            <a:r>
              <a:rPr sz="1125" b="1">
                <a:solidFill>
                  <a:srgbClr val="9EB4BF"/>
                </a:solidFill>
                <a:latin typeface="DejaVu Sans"/>
                <a:ea typeface="DejaVu Sans"/>
                <a:cs typeface="DejaVu Sans"/>
              </a:rPr>
              <a:t>11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9E9F2FF-F967-4A10-8DA3-C9E77DEC0F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428750"/>
            <a:ext cx="4572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F28C28"/>
                </a:solidFill>
                <a:latin typeface="DejaVu Sans"/>
                <a:ea typeface="DejaVu Sans"/>
                <a:cs typeface="DejaVu Sans"/>
              </a:defRPr>
            </a:pPr>
            <a:r>
              <a:rPr sz="1200" b="1">
                <a:solidFill>
                  <a:srgbClr val="F28C28"/>
                </a:solidFill>
                <a:latin typeface="DejaVu Sans"/>
                <a:ea typeface="DejaVu Sans"/>
                <a:cs typeface="DejaVu Sans"/>
              </a:rPr>
              <a:t>01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CB82966-922C-4FC9-A148-3C09BFB435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" y="1428750"/>
            <a:ext cx="1809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85185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22A6A1"/>
                </a:solidFill>
                <a:latin typeface="DejaVu Sans"/>
                <a:ea typeface="DejaVu Sans"/>
                <a:cs typeface="DejaVu Sans"/>
              </a:defRPr>
            </a:pPr>
            <a:r>
              <a:rPr sz="1350" b="1">
                <a:solidFill>
                  <a:srgbClr val="22A6A1"/>
                </a:solidFill>
                <a:latin typeface="DejaVu Sans"/>
                <a:ea typeface="DejaVu Sans"/>
                <a:cs typeface="DejaVu Sans"/>
              </a:rPr>
              <a:t>Herramienta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A8E0B46-2BFF-46FA-A4F1-03A57E8F1D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" y="1752600"/>
            <a:ext cx="4333875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pPr>
            <a:r>
              <a:rPr sz="1200" b="0">
                <a:solidFill>
                  <a:srgbClr val="FFFFFF"/>
                </a:solidFill>
                <a:latin typeface="DejaVu Sans"/>
                <a:ea typeface="DejaVu Sans"/>
                <a:cs typeface="DejaVu Sans"/>
              </a:rPr>
              <a:t>Confirmar Bigin o alternativa.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4385F41-1532-4398-AC13-8963FE3782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38850" y="1428750"/>
            <a:ext cx="4572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F28C28"/>
                </a:solidFill>
                <a:latin typeface="DejaVu Sans"/>
                <a:ea typeface="DejaVu Sans"/>
                <a:cs typeface="DejaVu Sans"/>
              </a:defRPr>
            </a:pPr>
            <a:r>
              <a:rPr sz="1200" b="1">
                <a:solidFill>
                  <a:srgbClr val="F28C28"/>
                </a:solidFill>
                <a:latin typeface="DejaVu Sans"/>
                <a:ea typeface="DejaVu Sans"/>
                <a:cs typeface="DejaVu Sans"/>
              </a:rPr>
              <a:t>02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F9E8FE2-C02C-4D24-8902-5B6EBA77C0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91300" y="1428750"/>
            <a:ext cx="1809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85185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22A6A1"/>
                </a:solidFill>
                <a:latin typeface="DejaVu Sans"/>
                <a:ea typeface="DejaVu Sans"/>
                <a:cs typeface="DejaVu Sans"/>
              </a:defRPr>
            </a:pPr>
            <a:r>
              <a:rPr sz="1350" b="1">
                <a:solidFill>
                  <a:srgbClr val="22A6A1"/>
                </a:solidFill>
                <a:latin typeface="DejaVu Sans"/>
                <a:ea typeface="DejaVu Sans"/>
                <a:cs typeface="DejaVu Sans"/>
              </a:rPr>
              <a:t>Usuarios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0A0E96B-8DF0-4F7D-9370-1A4FEC141E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91300" y="1752600"/>
            <a:ext cx="4333875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pPr>
            <a:r>
              <a:rPr sz="1200" b="0">
                <a:solidFill>
                  <a:srgbClr val="FFFFFF"/>
                </a:solidFill>
                <a:latin typeface="DejaVu Sans"/>
                <a:ea typeface="DejaVu Sans"/>
                <a:cs typeface="DejaVu Sans"/>
              </a:rPr>
              <a:t>Definir responsables iniciales y agentes futuros.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7641075-34AF-4F79-9A76-C0B7E99871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505075"/>
            <a:ext cx="4572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F28C28"/>
                </a:solidFill>
                <a:latin typeface="DejaVu Sans"/>
                <a:ea typeface="DejaVu Sans"/>
                <a:cs typeface="DejaVu Sans"/>
              </a:defRPr>
            </a:pPr>
            <a:r>
              <a:rPr sz="1200" b="1">
                <a:solidFill>
                  <a:srgbClr val="F28C28"/>
                </a:solidFill>
                <a:latin typeface="DejaVu Sans"/>
                <a:ea typeface="DejaVu Sans"/>
                <a:cs typeface="DejaVu Sans"/>
              </a:rPr>
              <a:t>03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117DAD35-D523-4931-8E01-064683EE58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" y="2505075"/>
            <a:ext cx="1809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85185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22A6A1"/>
                </a:solidFill>
                <a:latin typeface="DejaVu Sans"/>
                <a:ea typeface="DejaVu Sans"/>
                <a:cs typeface="DejaVu Sans"/>
              </a:defRPr>
            </a:pPr>
            <a:r>
              <a:rPr sz="1350" b="1">
                <a:solidFill>
                  <a:srgbClr val="22A6A1"/>
                </a:solidFill>
                <a:latin typeface="DejaVu Sans"/>
                <a:ea typeface="DejaVu Sans"/>
                <a:cs typeface="DejaVu Sans"/>
              </a:rPr>
              <a:t>Pipeline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EC1A470B-994C-4B34-9CE0-E75BD0AD18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" y="2828925"/>
            <a:ext cx="4333875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pPr>
            <a:r>
              <a:rPr sz="1200" b="0">
                <a:solidFill>
                  <a:srgbClr val="FFFFFF"/>
                </a:solidFill>
                <a:latin typeface="DejaVu Sans"/>
                <a:ea typeface="DejaVu Sans"/>
                <a:cs typeface="DejaVu Sans"/>
              </a:rPr>
              <a:t>Validar fases, perdido y seguimiento futuro.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45C334A0-119C-4FBA-9E0B-C0D131C85B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38850" y="2505075"/>
            <a:ext cx="4572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F28C28"/>
                </a:solidFill>
                <a:latin typeface="DejaVu Sans"/>
                <a:ea typeface="DejaVu Sans"/>
                <a:cs typeface="DejaVu Sans"/>
              </a:defRPr>
            </a:pPr>
            <a:r>
              <a:rPr sz="1200" b="1">
                <a:solidFill>
                  <a:srgbClr val="F28C28"/>
                </a:solidFill>
                <a:latin typeface="DejaVu Sans"/>
                <a:ea typeface="DejaVu Sans"/>
                <a:cs typeface="DejaVu Sans"/>
              </a:rPr>
              <a:t>04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F9BD1261-5E3D-44D0-8492-D8789FA70A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91300" y="2505075"/>
            <a:ext cx="1809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85185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22A6A1"/>
                </a:solidFill>
                <a:latin typeface="DejaVu Sans"/>
                <a:ea typeface="DejaVu Sans"/>
                <a:cs typeface="DejaVu Sans"/>
              </a:defRPr>
            </a:pPr>
            <a:r>
              <a:rPr sz="1350" b="1">
                <a:solidFill>
                  <a:srgbClr val="22A6A1"/>
                </a:solidFill>
                <a:latin typeface="DejaVu Sans"/>
                <a:ea typeface="DejaVu Sans"/>
                <a:cs typeface="DejaVu Sans"/>
              </a:rPr>
              <a:t>Campos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BE1F08D7-5C3C-4F06-B984-1B909C0455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91300" y="2828925"/>
            <a:ext cx="4333875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pPr>
            <a:r>
              <a:rPr sz="1200" b="0">
                <a:solidFill>
                  <a:srgbClr val="FFFFFF"/>
                </a:solidFill>
                <a:latin typeface="DejaVu Sans"/>
                <a:ea typeface="DejaVu Sans"/>
                <a:cs typeface="DejaVu Sans"/>
              </a:rPr>
              <a:t>Aprobar los datos mínimos obligatorios.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F295616A-557A-43AD-9300-15761F1ED1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581400"/>
            <a:ext cx="4572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F28C28"/>
                </a:solidFill>
                <a:latin typeface="DejaVu Sans"/>
                <a:ea typeface="DejaVu Sans"/>
                <a:cs typeface="DejaVu Sans"/>
              </a:defRPr>
            </a:pPr>
            <a:r>
              <a:rPr sz="1200" b="1">
                <a:solidFill>
                  <a:srgbClr val="F28C28"/>
                </a:solidFill>
                <a:latin typeface="DejaVu Sans"/>
                <a:ea typeface="DejaVu Sans"/>
                <a:cs typeface="DejaVu Sans"/>
              </a:rPr>
              <a:t>05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64D55BB7-EF5C-4FB9-9840-278F6BF5D5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" y="3581400"/>
            <a:ext cx="1809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85185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22A6A1"/>
                </a:solidFill>
                <a:latin typeface="DejaVu Sans"/>
                <a:ea typeface="DejaVu Sans"/>
                <a:cs typeface="DejaVu Sans"/>
              </a:defRPr>
            </a:pPr>
            <a:r>
              <a:rPr sz="1350" b="1">
                <a:solidFill>
                  <a:srgbClr val="22A6A1"/>
                </a:solidFill>
                <a:latin typeface="DejaVu Sans"/>
                <a:ea typeface="DejaVu Sans"/>
                <a:cs typeface="DejaVu Sans"/>
              </a:rPr>
              <a:t>Permisos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90B7FABC-F3CC-4547-881F-77AE97F28D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" y="3905250"/>
            <a:ext cx="4333875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pPr>
            <a:r>
              <a:rPr sz="1200" b="0">
                <a:solidFill>
                  <a:srgbClr val="FFFFFF"/>
                </a:solidFill>
                <a:latin typeface="DejaVu Sans"/>
                <a:ea typeface="DejaVu Sans"/>
                <a:cs typeface="DejaVu Sans"/>
              </a:rPr>
              <a:t>Determinar visibilidad por país y rol.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47190026-2432-4BE7-94DD-F462B62469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38850" y="3581400"/>
            <a:ext cx="4572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F28C28"/>
                </a:solidFill>
                <a:latin typeface="DejaVu Sans"/>
                <a:ea typeface="DejaVu Sans"/>
                <a:cs typeface="DejaVu Sans"/>
              </a:defRPr>
            </a:pPr>
            <a:r>
              <a:rPr sz="1200" b="1">
                <a:solidFill>
                  <a:srgbClr val="F28C28"/>
                </a:solidFill>
                <a:latin typeface="DejaVu Sans"/>
                <a:ea typeface="DejaVu Sans"/>
                <a:cs typeface="DejaVu Sans"/>
              </a:rPr>
              <a:t>06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653AABF3-DF71-4F45-8E76-C517A62779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91300" y="3581400"/>
            <a:ext cx="1809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85185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22A6A1"/>
                </a:solidFill>
                <a:latin typeface="DejaVu Sans"/>
                <a:ea typeface="DejaVu Sans"/>
                <a:cs typeface="DejaVu Sans"/>
              </a:defRPr>
            </a:pPr>
            <a:r>
              <a:rPr sz="1350" b="1">
                <a:solidFill>
                  <a:srgbClr val="22A6A1"/>
                </a:solidFill>
                <a:latin typeface="DejaVu Sans"/>
                <a:ea typeface="DejaVu Sans"/>
                <a:cs typeface="DejaVu Sans"/>
              </a:rPr>
              <a:t>Migración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45AF56E8-6BB4-4AC9-96F7-9FF0A18011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91300" y="3905250"/>
            <a:ext cx="4333875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pPr>
            <a:r>
              <a:rPr sz="1200" b="0">
                <a:solidFill>
                  <a:srgbClr val="FFFFFF"/>
                </a:solidFill>
                <a:latin typeface="DejaVu Sans"/>
                <a:ea typeface="DejaVu Sans"/>
                <a:cs typeface="DejaVu Sans"/>
              </a:rPr>
              <a:t>Identificar Excel, contactos y oportunidades activas.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D43C41AC-7595-4977-B377-51E6154737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657725"/>
            <a:ext cx="4572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F28C28"/>
                </a:solidFill>
                <a:latin typeface="DejaVu Sans"/>
                <a:ea typeface="DejaVu Sans"/>
                <a:cs typeface="DejaVu Sans"/>
              </a:defRPr>
            </a:pPr>
            <a:r>
              <a:rPr sz="1200" b="1">
                <a:solidFill>
                  <a:srgbClr val="F28C28"/>
                </a:solidFill>
                <a:latin typeface="DejaVu Sans"/>
                <a:ea typeface="DejaVu Sans"/>
                <a:cs typeface="DejaVu Sans"/>
              </a:rPr>
              <a:t>07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FED2398E-674C-40FA-8019-7F5037CC57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" y="4657725"/>
            <a:ext cx="1809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85185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22A6A1"/>
                </a:solidFill>
                <a:latin typeface="DejaVu Sans"/>
                <a:ea typeface="DejaVu Sans"/>
                <a:cs typeface="DejaVu Sans"/>
              </a:defRPr>
            </a:pPr>
            <a:r>
              <a:rPr sz="1350" b="1">
                <a:solidFill>
                  <a:srgbClr val="22A6A1"/>
                </a:solidFill>
                <a:latin typeface="DejaVu Sans"/>
                <a:ea typeface="DejaVu Sans"/>
                <a:cs typeface="DejaVu Sans"/>
              </a:rPr>
              <a:t>Gobernanza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F1BDB958-AB06-4B6A-9DA1-2D4A0B088A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" y="4981575"/>
            <a:ext cx="4333875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pPr>
            <a:r>
              <a:rPr sz="1200" b="0">
                <a:solidFill>
                  <a:srgbClr val="FFFFFF"/>
                </a:solidFill>
                <a:latin typeface="DejaVu Sans"/>
                <a:ea typeface="DejaVu Sans"/>
                <a:cs typeface="DejaVu Sans"/>
              </a:rPr>
              <a:t>Asignar responsable de calidad y revisión semanal.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BAD73427-51DE-4F9C-B985-EDAACE1AED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38850" y="4657725"/>
            <a:ext cx="4572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F28C28"/>
                </a:solidFill>
                <a:latin typeface="DejaVu Sans"/>
                <a:ea typeface="DejaVu Sans"/>
                <a:cs typeface="DejaVu Sans"/>
              </a:defRPr>
            </a:pPr>
            <a:r>
              <a:rPr sz="1200" b="1">
                <a:solidFill>
                  <a:srgbClr val="F28C28"/>
                </a:solidFill>
                <a:latin typeface="DejaVu Sans"/>
                <a:ea typeface="DejaVu Sans"/>
                <a:cs typeface="DejaVu Sans"/>
              </a:rPr>
              <a:t>08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18FC339B-1EC9-4909-A455-25D937CB1F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91300" y="4657725"/>
            <a:ext cx="1809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85185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22A6A1"/>
                </a:solidFill>
                <a:latin typeface="DejaVu Sans"/>
                <a:ea typeface="DejaVu Sans"/>
                <a:cs typeface="DejaVu Sans"/>
              </a:defRPr>
            </a:pPr>
            <a:r>
              <a:rPr sz="1350" b="1">
                <a:solidFill>
                  <a:srgbClr val="22A6A1"/>
                </a:solidFill>
                <a:latin typeface="DejaVu Sans"/>
                <a:ea typeface="DejaVu Sans"/>
                <a:cs typeface="DejaVu Sans"/>
              </a:rPr>
              <a:t>Piloto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A019B4C4-2BB3-4BEE-973A-4162886970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91300" y="4981575"/>
            <a:ext cx="4333875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pPr>
            <a:r>
              <a:rPr sz="1200" b="0">
                <a:solidFill>
                  <a:srgbClr val="FFFFFF"/>
                </a:solidFill>
                <a:latin typeface="DejaVu Sans"/>
                <a:ea typeface="DejaVu Sans"/>
                <a:cs typeface="DejaVu Sans"/>
              </a:rPr>
              <a:t>Fijar fecha, usuarios y periodo de prueba.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82C1FBA1-9FDD-4680-972F-E4EAA2773E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000750"/>
            <a:ext cx="20002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85417"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F28C28"/>
                </a:solidFill>
                <a:latin typeface="DejaVu Sans"/>
                <a:ea typeface="DejaVu Sans"/>
                <a:cs typeface="DejaVu Sans"/>
              </a:defRPr>
            </a:pPr>
            <a:r>
              <a:rPr sz="1200" b="1">
                <a:solidFill>
                  <a:srgbClr val="F28C28"/>
                </a:solidFill>
                <a:latin typeface="DejaVu Sans"/>
                <a:ea typeface="DejaVu Sans"/>
                <a:cs typeface="DejaVu Sans"/>
              </a:rPr>
              <a:t>Resultado esperado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FF202276-15B1-4F59-BA56-D60FF03AFC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67000" y="5943600"/>
            <a:ext cx="8191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89392"/>
          </a:bodyPr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pPr>
            <a:r>
              <a:rPr sz="1425" b="1">
                <a:solidFill>
                  <a:srgbClr val="FFFFFF"/>
                </a:solidFill>
                <a:latin typeface="DejaVu Sans"/>
                <a:ea typeface="DejaVu Sans"/>
                <a:cs typeface="DejaVu Sans"/>
              </a:rPr>
              <a:t>Salir con herramienta, responsables, configuración inicial y fecha de puesta en marcha.</a:t>
            </a:r>
          </a:p>
        </p:txBody>
      </p:sp>
    </p:spTree>
    <p:extLst>
      <p:ext uri="{BB962C8B-B14F-4D97-AF65-F5344CB8AC3E}">
        <p14:creationId xmlns:p14="http://schemas.microsoft.com/office/powerpoint/2010/main" val="242991793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2026-09-24T06:56:53.7940000Z</dcterms:created>
  <dcterms:modified xsi:type="dcterms:W3CDTF">2026-09-24T06:56:53.7940000Z</dcterms:modified>
</coreProperties>
</file>